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7" r:id="rId1"/>
  </p:sldMasterIdLst>
  <p:sldIdLst>
    <p:sldId id="258" r:id="rId2"/>
    <p:sldId id="257" r:id="rId3"/>
    <p:sldId id="260" r:id="rId4"/>
    <p:sldId id="261" r:id="rId5"/>
    <p:sldId id="259" r:id="rId6"/>
    <p:sldId id="263" r:id="rId7"/>
    <p:sldId id="264" r:id="rId8"/>
    <p:sldId id="265" r:id="rId9"/>
    <p:sldId id="266" r:id="rId10"/>
    <p:sldId id="262" r:id="rId11"/>
    <p:sldId id="268" r:id="rId12"/>
    <p:sldId id="289" r:id="rId13"/>
    <p:sldId id="269" r:id="rId14"/>
    <p:sldId id="270" r:id="rId15"/>
    <p:sldId id="273" r:id="rId16"/>
    <p:sldId id="271" r:id="rId17"/>
    <p:sldId id="275" r:id="rId18"/>
    <p:sldId id="276" r:id="rId19"/>
    <p:sldId id="277" r:id="rId20"/>
    <p:sldId id="274" r:id="rId21"/>
    <p:sldId id="278" r:id="rId22"/>
    <p:sldId id="288" r:id="rId23"/>
    <p:sldId id="282" r:id="rId24"/>
    <p:sldId id="279" r:id="rId25"/>
    <p:sldId id="280" r:id="rId26"/>
    <p:sldId id="281" r:id="rId27"/>
    <p:sldId id="284" r:id="rId28"/>
    <p:sldId id="285" r:id="rId29"/>
    <p:sldId id="286" r:id="rId30"/>
    <p:sldId id="287" r:id="rId31"/>
    <p:sldId id="283"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4905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26066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80091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smtClean="0"/>
              <a:pPr/>
              <a:t>1/12/2026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8950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smtClean="0"/>
              <a:pPr/>
              <a:t>1/12/2026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337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smtClean="0"/>
              <a:pPr/>
              <a:t>1/12/2026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70620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smtClean="0"/>
              <a:pPr/>
              <a:t>1/12/2026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24387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smtClean="0"/>
              <a:pPr/>
              <a:t>1/12/2026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34995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09B482E8-6E0E-1B4F-B1FD-C69DB9E858D9}" type="datetimeFigureOut">
              <a:rPr lang="en-US" smtClean="0"/>
              <a:pPr/>
              <a:t>1/12/2026</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8345046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1/12/2026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0240143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B482E8-6E0E-1B4F-B1FD-C69DB9E858D9}"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9250706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09B482E8-6E0E-1B4F-B1FD-C69DB9E858D9}"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4661152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09B482E8-6E0E-1B4F-B1FD-C69DB9E858D9}"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160753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B482E8-6E0E-1B4F-B1FD-C69DB9E858D9}"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4689578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B482E8-6E0E-1B4F-B1FD-C69DB9E858D9}"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7114331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175118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65006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09B482E8-6E0E-1B4F-B1FD-C69DB9E858D9}" type="datetimeFigureOut">
              <a:rPr lang="en-US" smtClean="0"/>
              <a:pPr/>
              <a:t>1/12/2026</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68089780"/>
      </p:ext>
    </p:extLst>
  </p:cSld>
  <p:clrMap bg1="dk1" tx1="lt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Lst>
  <p:hf sldNum="0" hdr="0" ftr="0" dt="0"/>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F9632-5CC3-5BA8-9553-D12EE04EAA2C}"/>
              </a:ext>
            </a:extLst>
          </p:cNvPr>
          <p:cNvSpPr>
            <a:spLocks noGrp="1"/>
          </p:cNvSpPr>
          <p:nvPr>
            <p:ph type="title"/>
          </p:nvPr>
        </p:nvSpPr>
        <p:spPr>
          <a:xfrm>
            <a:off x="1239736" y="609600"/>
            <a:ext cx="9905998" cy="5279922"/>
          </a:xfrm>
        </p:spPr>
        <p:txBody>
          <a:bodyPr>
            <a:normAutofit/>
          </a:bodyPr>
          <a:lstStyle/>
          <a:p>
            <a:pPr algn="ctr"/>
            <a:r>
              <a:rPr lang="en" sz="4400" b="1" dirty="0"/>
              <a:t>Inventra Intelligent Inventory </a:t>
            </a:r>
            <a:br>
              <a:rPr lang="en" sz="4400" b="1" dirty="0"/>
            </a:br>
            <a:r>
              <a:rPr lang="en" sz="4400" b="1" dirty="0"/>
              <a:t>Management System</a:t>
            </a:r>
            <a:br>
              <a:rPr lang="en" sz="4400" b="1" dirty="0"/>
            </a:br>
            <a:br>
              <a:rPr lang="en" sz="4400" b="1" dirty="0"/>
            </a:br>
            <a:r>
              <a:rPr lang="en" sz="2800" b="1" dirty="0"/>
              <a:t>Milestone 3</a:t>
            </a:r>
            <a:endParaRPr lang="en-IN" sz="2800" b="1" dirty="0"/>
          </a:p>
        </p:txBody>
      </p:sp>
    </p:spTree>
    <p:extLst>
      <p:ext uri="{BB962C8B-B14F-4D97-AF65-F5344CB8AC3E}">
        <p14:creationId xmlns:p14="http://schemas.microsoft.com/office/powerpoint/2010/main" val="3876526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9CAE6-DDFC-0ABB-CF16-CC3B3A63F442}"/>
              </a:ext>
            </a:extLst>
          </p:cNvPr>
          <p:cNvSpPr>
            <a:spLocks noGrp="1"/>
          </p:cNvSpPr>
          <p:nvPr>
            <p:ph type="title"/>
          </p:nvPr>
        </p:nvSpPr>
        <p:spPr>
          <a:xfrm>
            <a:off x="1043090" y="339212"/>
            <a:ext cx="9905998" cy="1905000"/>
          </a:xfrm>
        </p:spPr>
        <p:txBody>
          <a:bodyPr>
            <a:normAutofit/>
          </a:bodyPr>
          <a:lstStyle/>
          <a:p>
            <a:pPr algn="ctr"/>
            <a:r>
              <a:rPr lang="en-IN" sz="3600" b="1" dirty="0"/>
              <a:t>OVERVIEW OF </a:t>
            </a:r>
            <a:r>
              <a:rPr lang="en" sz="3600" b="1" dirty="0"/>
              <a:t>Inventra Intelligent Inventory Management System</a:t>
            </a:r>
            <a:r>
              <a:rPr lang="en-IN" sz="3600" b="1" dirty="0"/>
              <a:t> </a:t>
            </a:r>
          </a:p>
        </p:txBody>
      </p:sp>
      <p:sp>
        <p:nvSpPr>
          <p:cNvPr id="3" name="Content Placeholder 2">
            <a:extLst>
              <a:ext uri="{FF2B5EF4-FFF2-40B4-BE49-F238E27FC236}">
                <a16:creationId xmlns:a16="http://schemas.microsoft.com/office/drawing/2014/main" id="{AA8C29A0-B034-D95D-9AF2-A270D703FC1F}"/>
              </a:ext>
            </a:extLst>
          </p:cNvPr>
          <p:cNvSpPr>
            <a:spLocks noGrp="1"/>
          </p:cNvSpPr>
          <p:nvPr>
            <p:ph idx="1"/>
          </p:nvPr>
        </p:nvSpPr>
        <p:spPr>
          <a:xfrm>
            <a:off x="1141413" y="1504335"/>
            <a:ext cx="9905998" cy="4670323"/>
          </a:xfrm>
        </p:spPr>
        <p:txBody>
          <a:bodyPr>
            <a:noAutofit/>
          </a:bodyPr>
          <a:lstStyle/>
          <a:p>
            <a:pPr>
              <a:buFont typeface="Wingdings" panose="05000000000000000000" pitchFamily="2" charset="2"/>
              <a:buChar char="§"/>
            </a:pPr>
            <a:r>
              <a:rPr lang="en-US" sz="2600" dirty="0" err="1"/>
              <a:t>Inventra</a:t>
            </a:r>
            <a:r>
              <a:rPr lang="en-US" sz="2600" dirty="0"/>
              <a:t> – Intelligent Inventory Management System is a smart solution designed to automate and optimize inventory management. It continuously monitors stock levels, generates alerts for low, normal, or excess inventory, analyzes usage patterns for informed decision-making, and produces detailed reports for management. By integrating these functions, </a:t>
            </a:r>
            <a:r>
              <a:rPr lang="en-US" sz="2600" dirty="0" err="1"/>
              <a:t>Inventra</a:t>
            </a:r>
            <a:r>
              <a:rPr lang="en-US" sz="2600" dirty="0"/>
              <a:t> reduces manual effort, prevents stock discrepancies, and ensures efficient and reliable inventory control across organizations.</a:t>
            </a:r>
            <a:endParaRPr lang="en-IN" sz="2600" dirty="0"/>
          </a:p>
        </p:txBody>
      </p:sp>
    </p:spTree>
    <p:extLst>
      <p:ext uri="{BB962C8B-B14F-4D97-AF65-F5344CB8AC3E}">
        <p14:creationId xmlns:p14="http://schemas.microsoft.com/office/powerpoint/2010/main" val="1527148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6839F-F1EE-66C1-E43E-A37171886C96}"/>
              </a:ext>
            </a:extLst>
          </p:cNvPr>
          <p:cNvSpPr>
            <a:spLocks noGrp="1"/>
          </p:cNvSpPr>
          <p:nvPr>
            <p:ph type="title"/>
          </p:nvPr>
        </p:nvSpPr>
        <p:spPr>
          <a:xfrm>
            <a:off x="1141413" y="609599"/>
            <a:ext cx="9905998" cy="4906297"/>
          </a:xfrm>
        </p:spPr>
        <p:txBody>
          <a:bodyPr>
            <a:normAutofit/>
          </a:bodyPr>
          <a:lstStyle/>
          <a:p>
            <a:pPr algn="ctr"/>
            <a:r>
              <a:rPr lang="en-US" sz="5400" b="1" dirty="0"/>
              <a:t>MODULE 1</a:t>
            </a:r>
            <a:br>
              <a:rPr lang="en-US" sz="5400" b="1" dirty="0"/>
            </a:br>
            <a:r>
              <a:rPr lang="en-US" sz="5400" b="1" dirty="0"/>
              <a:t>AUTHENTICATION MODULE</a:t>
            </a:r>
            <a:endParaRPr lang="en-IN" sz="5400" b="1" dirty="0"/>
          </a:p>
        </p:txBody>
      </p:sp>
    </p:spTree>
    <p:extLst>
      <p:ext uri="{BB962C8B-B14F-4D97-AF65-F5344CB8AC3E}">
        <p14:creationId xmlns:p14="http://schemas.microsoft.com/office/powerpoint/2010/main" val="1204377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15B3B-4F41-2384-207A-4742C21A59C9}"/>
              </a:ext>
            </a:extLst>
          </p:cNvPr>
          <p:cNvSpPr>
            <a:spLocks noGrp="1"/>
          </p:cNvSpPr>
          <p:nvPr>
            <p:ph type="title"/>
          </p:nvPr>
        </p:nvSpPr>
        <p:spPr>
          <a:xfrm>
            <a:off x="373626" y="412954"/>
            <a:ext cx="10860598" cy="1474839"/>
          </a:xfrm>
        </p:spPr>
        <p:txBody>
          <a:bodyPr>
            <a:normAutofit/>
          </a:bodyPr>
          <a:lstStyle/>
          <a:p>
            <a:pPr algn="ctr"/>
            <a:r>
              <a:rPr lang="en-IN" sz="3600" b="1" dirty="0"/>
              <a:t>OVERVIEW OF AUTHENTICATION MODULE</a:t>
            </a:r>
          </a:p>
        </p:txBody>
      </p:sp>
      <p:sp>
        <p:nvSpPr>
          <p:cNvPr id="3" name="Content Placeholder 2">
            <a:extLst>
              <a:ext uri="{FF2B5EF4-FFF2-40B4-BE49-F238E27FC236}">
                <a16:creationId xmlns:a16="http://schemas.microsoft.com/office/drawing/2014/main" id="{8B7D274A-60BB-51A3-8B79-4FC299D64ABB}"/>
              </a:ext>
            </a:extLst>
          </p:cNvPr>
          <p:cNvSpPr>
            <a:spLocks noGrp="1"/>
          </p:cNvSpPr>
          <p:nvPr>
            <p:ph idx="1"/>
          </p:nvPr>
        </p:nvSpPr>
        <p:spPr>
          <a:xfrm>
            <a:off x="1141413" y="1376516"/>
            <a:ext cx="9905998" cy="4414685"/>
          </a:xfrm>
        </p:spPr>
        <p:txBody>
          <a:bodyPr>
            <a:normAutofit/>
          </a:bodyPr>
          <a:lstStyle/>
          <a:p>
            <a:pPr>
              <a:buFont typeface="Wingdings" panose="05000000000000000000" pitchFamily="2" charset="2"/>
              <a:buChar char="§"/>
            </a:pPr>
            <a:r>
              <a:rPr lang="en-US" sz="2800" dirty="0"/>
              <a:t>Handles user login, registration, and password validation.</a:t>
            </a:r>
          </a:p>
          <a:p>
            <a:pPr>
              <a:buFont typeface="Wingdings" panose="05000000000000000000" pitchFamily="2" charset="2"/>
              <a:buChar char="§"/>
            </a:pPr>
            <a:r>
              <a:rPr lang="en-US" sz="2800" dirty="0"/>
              <a:t>Performs access control, ensuring only authorized users can enter the system.</a:t>
            </a:r>
          </a:p>
          <a:p>
            <a:pPr>
              <a:buFont typeface="Wingdings" panose="05000000000000000000" pitchFamily="2" charset="2"/>
              <a:buChar char="§"/>
            </a:pPr>
            <a:r>
              <a:rPr lang="en-US" sz="2800" dirty="0"/>
              <a:t>Verifies user identity and manages secure sessions.</a:t>
            </a:r>
          </a:p>
          <a:p>
            <a:pPr>
              <a:buFont typeface="Wingdings" panose="05000000000000000000" pitchFamily="2" charset="2"/>
              <a:buChar char="§"/>
            </a:pPr>
            <a:r>
              <a:rPr lang="en-US" sz="2800" dirty="0"/>
              <a:t>Ensures system security, valid login, and proper session management.</a:t>
            </a:r>
            <a:endParaRPr lang="en-IN" sz="2800" dirty="0"/>
          </a:p>
        </p:txBody>
      </p:sp>
    </p:spTree>
    <p:extLst>
      <p:ext uri="{BB962C8B-B14F-4D97-AF65-F5344CB8AC3E}">
        <p14:creationId xmlns:p14="http://schemas.microsoft.com/office/powerpoint/2010/main" val="3034542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80AD1-3A3A-9DA2-9E16-5290B1D33B24}"/>
              </a:ext>
            </a:extLst>
          </p:cNvPr>
          <p:cNvSpPr>
            <a:spLocks noGrp="1"/>
          </p:cNvSpPr>
          <p:nvPr>
            <p:ph type="title"/>
          </p:nvPr>
        </p:nvSpPr>
        <p:spPr>
          <a:xfrm>
            <a:off x="1143001" y="389604"/>
            <a:ext cx="9905998" cy="1517855"/>
          </a:xfrm>
        </p:spPr>
        <p:txBody>
          <a:bodyPr>
            <a:normAutofit/>
          </a:bodyPr>
          <a:lstStyle/>
          <a:p>
            <a:pPr algn="ctr"/>
            <a:r>
              <a:rPr lang="en-IN" sz="4400" b="1" dirty="0">
                <a:effectLst/>
              </a:rPr>
              <a:t>Key Classes - Authentication</a:t>
            </a:r>
            <a:endParaRPr lang="en-IN" sz="4400" b="1" dirty="0"/>
          </a:p>
        </p:txBody>
      </p:sp>
      <p:sp>
        <p:nvSpPr>
          <p:cNvPr id="3" name="Content Placeholder 2">
            <a:extLst>
              <a:ext uri="{FF2B5EF4-FFF2-40B4-BE49-F238E27FC236}">
                <a16:creationId xmlns:a16="http://schemas.microsoft.com/office/drawing/2014/main" id="{193D1B0B-7D66-0849-39B4-CCFAEB9A69EF}"/>
              </a:ext>
            </a:extLst>
          </p:cNvPr>
          <p:cNvSpPr>
            <a:spLocks noGrp="1"/>
          </p:cNvSpPr>
          <p:nvPr>
            <p:ph idx="1"/>
          </p:nvPr>
        </p:nvSpPr>
        <p:spPr>
          <a:xfrm>
            <a:off x="1062755" y="1477296"/>
            <a:ext cx="9905998" cy="4707194"/>
          </a:xfrm>
        </p:spPr>
        <p:txBody>
          <a:bodyPr/>
          <a:lstStyle/>
          <a:p>
            <a:pPr marL="342900" indent="-342900">
              <a:buFont typeface="Wingdings" panose="05000000000000000000" pitchFamily="2" charset="2"/>
              <a:buChar char="q"/>
            </a:pPr>
            <a:r>
              <a:rPr lang="en-IN" sz="2600" b="1" dirty="0" err="1"/>
              <a:t>AuthController</a:t>
            </a:r>
            <a:r>
              <a:rPr lang="en-IN" sz="2600" dirty="0"/>
              <a:t> – Manages login, signup, and password requests.</a:t>
            </a:r>
          </a:p>
          <a:p>
            <a:pPr marL="342900" indent="-342900">
              <a:buFont typeface="Wingdings" panose="05000000000000000000" pitchFamily="2" charset="2"/>
              <a:buChar char="q"/>
            </a:pPr>
            <a:r>
              <a:rPr lang="en-IN" sz="2600" b="1" dirty="0" err="1"/>
              <a:t>AuthService</a:t>
            </a:r>
            <a:r>
              <a:rPr lang="en-IN" sz="2600" dirty="0"/>
              <a:t> – Handles authentication logic and validation.</a:t>
            </a:r>
          </a:p>
          <a:p>
            <a:pPr marL="342900" indent="-342900">
              <a:buFont typeface="Wingdings" panose="05000000000000000000" pitchFamily="2" charset="2"/>
              <a:buChar char="q"/>
            </a:pPr>
            <a:r>
              <a:rPr lang="en-IN" sz="2600" b="1" dirty="0"/>
              <a:t>User</a:t>
            </a:r>
            <a:r>
              <a:rPr lang="en-IN" sz="2600" dirty="0"/>
              <a:t> – Represents user information in the system.</a:t>
            </a:r>
          </a:p>
          <a:p>
            <a:pPr marL="342900" indent="-342900">
              <a:buFont typeface="Wingdings" panose="05000000000000000000" pitchFamily="2" charset="2"/>
              <a:buChar char="q"/>
            </a:pPr>
            <a:r>
              <a:rPr lang="en-IN" sz="2600" b="1" dirty="0" err="1"/>
              <a:t>UserRepository</a:t>
            </a:r>
            <a:r>
              <a:rPr lang="en-IN" sz="2600" dirty="0"/>
              <a:t> – Performs database operations for users.</a:t>
            </a:r>
          </a:p>
          <a:p>
            <a:pPr marL="342900" indent="-342900">
              <a:buFont typeface="Wingdings" panose="05000000000000000000" pitchFamily="2" charset="2"/>
              <a:buChar char="q"/>
            </a:pPr>
            <a:r>
              <a:rPr lang="en-IN" sz="2600" b="1" dirty="0" err="1"/>
              <a:t>JWTUtility</a:t>
            </a:r>
            <a:r>
              <a:rPr lang="en-IN" sz="2600" dirty="0"/>
              <a:t> – Creates and verifies JWT tokens.</a:t>
            </a:r>
          </a:p>
          <a:p>
            <a:pPr marL="342900" indent="-342900">
              <a:buFont typeface="Wingdings" panose="05000000000000000000" pitchFamily="2" charset="2"/>
              <a:buChar char="q"/>
            </a:pPr>
            <a:r>
              <a:rPr lang="en-IN" sz="2600" b="1" dirty="0" err="1"/>
              <a:t>EmailService</a:t>
            </a:r>
            <a:r>
              <a:rPr lang="en-IN" sz="2600" dirty="0"/>
              <a:t> – Sends password recovery emails.</a:t>
            </a:r>
          </a:p>
          <a:p>
            <a:pPr marL="0" indent="0">
              <a:buNone/>
            </a:pPr>
            <a:endParaRPr lang="en-IN" dirty="0"/>
          </a:p>
        </p:txBody>
      </p:sp>
    </p:spTree>
    <p:extLst>
      <p:ext uri="{BB962C8B-B14F-4D97-AF65-F5344CB8AC3E}">
        <p14:creationId xmlns:p14="http://schemas.microsoft.com/office/powerpoint/2010/main" val="2835267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1AA94-2B7F-E008-1A66-C9556E40EF42}"/>
              </a:ext>
            </a:extLst>
          </p:cNvPr>
          <p:cNvSpPr>
            <a:spLocks noGrp="1"/>
          </p:cNvSpPr>
          <p:nvPr>
            <p:ph type="title"/>
          </p:nvPr>
        </p:nvSpPr>
        <p:spPr>
          <a:xfrm>
            <a:off x="1025013" y="68827"/>
            <a:ext cx="9905998" cy="1425677"/>
          </a:xfrm>
        </p:spPr>
        <p:txBody>
          <a:bodyPr>
            <a:normAutofit/>
          </a:bodyPr>
          <a:lstStyle/>
          <a:p>
            <a:pPr algn="ctr"/>
            <a:r>
              <a:rPr lang="en-IN" sz="4400" b="1" dirty="0"/>
              <a:t> Signup (User Registration)</a:t>
            </a:r>
            <a:endParaRPr lang="en-IN" sz="4400" dirty="0"/>
          </a:p>
        </p:txBody>
      </p:sp>
      <p:sp>
        <p:nvSpPr>
          <p:cNvPr id="3" name="Content Placeholder 2">
            <a:extLst>
              <a:ext uri="{FF2B5EF4-FFF2-40B4-BE49-F238E27FC236}">
                <a16:creationId xmlns:a16="http://schemas.microsoft.com/office/drawing/2014/main" id="{E74DC0D0-2F0E-E372-D61B-DB502094CB56}"/>
              </a:ext>
            </a:extLst>
          </p:cNvPr>
          <p:cNvSpPr>
            <a:spLocks noGrp="1"/>
          </p:cNvSpPr>
          <p:nvPr>
            <p:ph idx="1"/>
          </p:nvPr>
        </p:nvSpPr>
        <p:spPr>
          <a:xfrm>
            <a:off x="1603529" y="1710812"/>
            <a:ext cx="4207336" cy="4483510"/>
          </a:xfrm>
        </p:spPr>
        <p:txBody>
          <a:bodyPr>
            <a:noAutofit/>
          </a:bodyPr>
          <a:lstStyle/>
          <a:p>
            <a:pPr marL="0" indent="0">
              <a:buNone/>
            </a:pPr>
            <a:r>
              <a:rPr lang="en-IN" sz="1800" dirty="0"/>
              <a:t>START</a:t>
            </a:r>
          </a:p>
          <a:p>
            <a:pPr marL="0" indent="0">
              <a:buNone/>
            </a:pPr>
            <a:r>
              <a:rPr lang="en-IN" sz="1800" dirty="0"/>
              <a:t>Receive signup request from user</a:t>
            </a:r>
          </a:p>
          <a:p>
            <a:pPr marL="0" indent="0">
              <a:buNone/>
            </a:pPr>
            <a:r>
              <a:rPr lang="en-IN" sz="1800" dirty="0"/>
              <a:t>Extract user details</a:t>
            </a:r>
          </a:p>
          <a:p>
            <a:pPr marL="0" indent="0">
              <a:buNone/>
            </a:pPr>
            <a:r>
              <a:rPr lang="en-IN" sz="1800" dirty="0"/>
              <a:t>IF username already exists THEN</a:t>
            </a:r>
          </a:p>
          <a:p>
            <a:pPr marL="0" indent="0">
              <a:buNone/>
            </a:pPr>
            <a:r>
              <a:rPr lang="en-IN" sz="1800" dirty="0"/>
              <a:t>    Display "User already exists"</a:t>
            </a:r>
          </a:p>
          <a:p>
            <a:pPr marL="0" indent="0">
              <a:buNone/>
            </a:pPr>
            <a:r>
              <a:rPr lang="en-IN" sz="1800" dirty="0"/>
              <a:t>ELSE</a:t>
            </a:r>
          </a:p>
          <a:p>
            <a:pPr marL="0" indent="0">
              <a:buNone/>
            </a:pPr>
            <a:r>
              <a:rPr lang="en-IN" sz="1800" dirty="0"/>
              <a:t>    Encrypt password</a:t>
            </a:r>
          </a:p>
          <a:p>
            <a:pPr marL="0" indent="0">
              <a:buNone/>
            </a:pPr>
            <a:r>
              <a:rPr lang="en-IN" sz="1800" dirty="0"/>
              <a:t>    Create new user object</a:t>
            </a:r>
          </a:p>
          <a:p>
            <a:pPr marL="0" indent="0">
              <a:buNone/>
            </a:pPr>
            <a:r>
              <a:rPr lang="en-IN" sz="1800" dirty="0"/>
              <a:t>    Save user details in database</a:t>
            </a:r>
          </a:p>
          <a:p>
            <a:pPr marL="0" indent="0">
              <a:buNone/>
            </a:pPr>
            <a:r>
              <a:rPr lang="en-IN" sz="1800" dirty="0"/>
              <a:t>    Display "Signup successful"</a:t>
            </a:r>
          </a:p>
          <a:p>
            <a:pPr marL="0" indent="0">
              <a:buNone/>
            </a:pPr>
            <a:r>
              <a:rPr lang="en-IN" sz="1800" dirty="0"/>
              <a:t>END IF</a:t>
            </a:r>
          </a:p>
          <a:p>
            <a:pPr marL="0" indent="0">
              <a:buNone/>
            </a:pPr>
            <a:r>
              <a:rPr lang="en-IN" sz="1800" dirty="0"/>
              <a:t>END</a:t>
            </a:r>
          </a:p>
          <a:p>
            <a:pPr marL="0" indent="0">
              <a:buNone/>
            </a:pPr>
            <a:endParaRPr lang="en-IN" sz="1800" dirty="0"/>
          </a:p>
        </p:txBody>
      </p:sp>
    </p:spTree>
    <p:extLst>
      <p:ext uri="{BB962C8B-B14F-4D97-AF65-F5344CB8AC3E}">
        <p14:creationId xmlns:p14="http://schemas.microsoft.com/office/powerpoint/2010/main" val="3785635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0759C-838A-8A7C-E872-FDDA9EB469AA}"/>
              </a:ext>
            </a:extLst>
          </p:cNvPr>
          <p:cNvSpPr>
            <a:spLocks noGrp="1"/>
          </p:cNvSpPr>
          <p:nvPr>
            <p:ph type="title"/>
          </p:nvPr>
        </p:nvSpPr>
        <p:spPr>
          <a:xfrm>
            <a:off x="1141413" y="186813"/>
            <a:ext cx="9905998" cy="1022555"/>
          </a:xfrm>
        </p:spPr>
        <p:txBody>
          <a:bodyPr>
            <a:normAutofit/>
          </a:bodyPr>
          <a:lstStyle/>
          <a:p>
            <a:pPr algn="ctr"/>
            <a:r>
              <a:rPr lang="en-IN" sz="4000" b="1" dirty="0"/>
              <a:t> </a:t>
            </a:r>
            <a:r>
              <a:rPr lang="en-IN" sz="4000" b="1" dirty="0" err="1"/>
              <a:t>Signin</a:t>
            </a:r>
            <a:r>
              <a:rPr lang="en-IN" sz="4000" b="1" dirty="0"/>
              <a:t> (User Login)</a:t>
            </a:r>
            <a:endParaRPr lang="en-IN" sz="4000" dirty="0"/>
          </a:p>
        </p:txBody>
      </p:sp>
      <p:sp>
        <p:nvSpPr>
          <p:cNvPr id="3" name="Content Placeholder 2">
            <a:extLst>
              <a:ext uri="{FF2B5EF4-FFF2-40B4-BE49-F238E27FC236}">
                <a16:creationId xmlns:a16="http://schemas.microsoft.com/office/drawing/2014/main" id="{D0530A7F-9B64-77A8-584F-A9187CC7985A}"/>
              </a:ext>
            </a:extLst>
          </p:cNvPr>
          <p:cNvSpPr>
            <a:spLocks noGrp="1"/>
          </p:cNvSpPr>
          <p:nvPr>
            <p:ph idx="1"/>
          </p:nvPr>
        </p:nvSpPr>
        <p:spPr>
          <a:xfrm>
            <a:off x="1505207" y="1209368"/>
            <a:ext cx="9905998" cy="5417573"/>
          </a:xfrm>
        </p:spPr>
        <p:txBody>
          <a:bodyPr>
            <a:normAutofit fontScale="85000" lnSpcReduction="20000"/>
          </a:bodyPr>
          <a:lstStyle/>
          <a:p>
            <a:pPr marL="0" indent="0">
              <a:buNone/>
            </a:pPr>
            <a:r>
              <a:rPr lang="en-IN" dirty="0"/>
              <a:t>START</a:t>
            </a:r>
          </a:p>
          <a:p>
            <a:pPr marL="0" indent="0">
              <a:buNone/>
            </a:pPr>
            <a:r>
              <a:rPr lang="en-IN" dirty="0"/>
              <a:t>Receive login request</a:t>
            </a:r>
          </a:p>
          <a:p>
            <a:pPr marL="0" indent="0">
              <a:buNone/>
            </a:pPr>
            <a:r>
              <a:rPr lang="en-IN" dirty="0"/>
              <a:t>Extract username and password</a:t>
            </a:r>
          </a:p>
          <a:p>
            <a:pPr marL="0" indent="0">
              <a:buNone/>
            </a:pPr>
            <a:r>
              <a:rPr lang="en-IN" dirty="0"/>
              <a:t>Fetch user from database using username</a:t>
            </a:r>
          </a:p>
          <a:p>
            <a:pPr marL="0" indent="0">
              <a:buNone/>
            </a:pPr>
            <a:r>
              <a:rPr lang="en-IN" dirty="0"/>
              <a:t>IF user not found THEN</a:t>
            </a:r>
          </a:p>
          <a:p>
            <a:pPr marL="0" indent="0">
              <a:buNone/>
            </a:pPr>
            <a:r>
              <a:rPr lang="en-IN" dirty="0"/>
              <a:t>    Display "Invalid username"</a:t>
            </a:r>
          </a:p>
          <a:p>
            <a:pPr marL="0" indent="0">
              <a:buNone/>
            </a:pPr>
            <a:r>
              <a:rPr lang="en-IN" dirty="0"/>
              <a:t>ELSE</a:t>
            </a:r>
          </a:p>
          <a:p>
            <a:pPr marL="0" indent="0">
              <a:buNone/>
            </a:pPr>
            <a:r>
              <a:rPr lang="en-IN" dirty="0"/>
              <a:t>    IF password matches encrypted password THEN</a:t>
            </a:r>
          </a:p>
          <a:p>
            <a:pPr marL="0" indent="0">
              <a:buNone/>
            </a:pPr>
            <a:r>
              <a:rPr lang="en-IN" dirty="0"/>
              <a:t>        Generate JWT token</a:t>
            </a:r>
          </a:p>
          <a:p>
            <a:pPr marL="0" indent="0">
              <a:buNone/>
            </a:pPr>
            <a:r>
              <a:rPr lang="en-IN" dirty="0"/>
              <a:t>        Return token to user</a:t>
            </a:r>
          </a:p>
          <a:p>
            <a:pPr marL="0" indent="0">
              <a:buNone/>
            </a:pPr>
            <a:r>
              <a:rPr lang="en-IN" dirty="0"/>
              <a:t>    ELSE</a:t>
            </a:r>
          </a:p>
          <a:p>
            <a:pPr marL="0" indent="0">
              <a:buNone/>
            </a:pPr>
            <a:r>
              <a:rPr lang="en-IN" dirty="0"/>
              <a:t>        Display "Invalid password"</a:t>
            </a:r>
          </a:p>
          <a:p>
            <a:pPr marL="0" indent="0">
              <a:buNone/>
            </a:pPr>
            <a:r>
              <a:rPr lang="en-IN" dirty="0"/>
              <a:t>    END IF</a:t>
            </a:r>
          </a:p>
          <a:p>
            <a:pPr marL="0" indent="0">
              <a:buNone/>
            </a:pPr>
            <a:r>
              <a:rPr lang="en-IN" dirty="0"/>
              <a:t>END IF</a:t>
            </a:r>
          </a:p>
          <a:p>
            <a:pPr marL="0" indent="0">
              <a:buNone/>
            </a:pPr>
            <a:r>
              <a:rPr lang="en-IN" dirty="0"/>
              <a:t>END</a:t>
            </a:r>
          </a:p>
          <a:p>
            <a:pPr marL="0" indent="0">
              <a:buNone/>
            </a:pPr>
            <a:endParaRPr lang="en-IN" dirty="0"/>
          </a:p>
        </p:txBody>
      </p:sp>
    </p:spTree>
    <p:extLst>
      <p:ext uri="{BB962C8B-B14F-4D97-AF65-F5344CB8AC3E}">
        <p14:creationId xmlns:p14="http://schemas.microsoft.com/office/powerpoint/2010/main" val="1917854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C7D97-BE9B-8251-9551-3E8DFC469A06}"/>
              </a:ext>
            </a:extLst>
          </p:cNvPr>
          <p:cNvSpPr>
            <a:spLocks noGrp="1"/>
          </p:cNvSpPr>
          <p:nvPr>
            <p:ph type="title"/>
          </p:nvPr>
        </p:nvSpPr>
        <p:spPr>
          <a:xfrm>
            <a:off x="1141413" y="206478"/>
            <a:ext cx="9905998" cy="1130710"/>
          </a:xfrm>
        </p:spPr>
        <p:txBody>
          <a:bodyPr>
            <a:normAutofit/>
          </a:bodyPr>
          <a:lstStyle/>
          <a:p>
            <a:pPr algn="ctr"/>
            <a:r>
              <a:rPr lang="en-IN" sz="4400" b="1" dirty="0"/>
              <a:t> Forgot Password</a:t>
            </a:r>
          </a:p>
        </p:txBody>
      </p:sp>
      <p:sp>
        <p:nvSpPr>
          <p:cNvPr id="3" name="Content Placeholder 2">
            <a:extLst>
              <a:ext uri="{FF2B5EF4-FFF2-40B4-BE49-F238E27FC236}">
                <a16:creationId xmlns:a16="http://schemas.microsoft.com/office/drawing/2014/main" id="{4298EDF2-1B58-5B8A-BB85-8A2FBC7A92C9}"/>
              </a:ext>
            </a:extLst>
          </p:cNvPr>
          <p:cNvSpPr>
            <a:spLocks noGrp="1"/>
          </p:cNvSpPr>
          <p:nvPr>
            <p:ph idx="1"/>
          </p:nvPr>
        </p:nvSpPr>
        <p:spPr>
          <a:xfrm>
            <a:off x="1318393" y="1337188"/>
            <a:ext cx="9905998" cy="4709650"/>
          </a:xfrm>
        </p:spPr>
        <p:txBody>
          <a:bodyPr>
            <a:normAutofit fontScale="92500" lnSpcReduction="20000"/>
          </a:bodyPr>
          <a:lstStyle/>
          <a:p>
            <a:pPr marL="0" indent="0">
              <a:buNone/>
            </a:pPr>
            <a:r>
              <a:rPr lang="en-US" dirty="0"/>
              <a:t>START</a:t>
            </a:r>
          </a:p>
          <a:p>
            <a:pPr marL="0" indent="0">
              <a:buNone/>
            </a:pPr>
            <a:r>
              <a:rPr lang="en-US" dirty="0"/>
              <a:t>Receive forgot password request</a:t>
            </a:r>
          </a:p>
          <a:p>
            <a:pPr marL="0" indent="0">
              <a:buNone/>
            </a:pPr>
            <a:r>
              <a:rPr lang="en-US" dirty="0"/>
              <a:t>Extract email ID</a:t>
            </a:r>
          </a:p>
          <a:p>
            <a:pPr marL="0" indent="0">
              <a:buNone/>
            </a:pPr>
            <a:r>
              <a:rPr lang="en-US" dirty="0"/>
              <a:t>Check if email exists in database</a:t>
            </a:r>
          </a:p>
          <a:p>
            <a:pPr marL="0" indent="0">
              <a:buNone/>
            </a:pPr>
            <a:r>
              <a:rPr lang="en-US" dirty="0"/>
              <a:t>IF email not found THEN</a:t>
            </a:r>
          </a:p>
          <a:p>
            <a:pPr marL="0" indent="0">
              <a:buNone/>
            </a:pPr>
            <a:r>
              <a:rPr lang="en-US" dirty="0"/>
              <a:t>    Display "Email not registered"</a:t>
            </a:r>
          </a:p>
          <a:p>
            <a:pPr marL="0" indent="0">
              <a:buNone/>
            </a:pPr>
            <a:r>
              <a:rPr lang="en-US" dirty="0"/>
              <a:t>ELSE</a:t>
            </a:r>
          </a:p>
          <a:p>
            <a:pPr marL="0" indent="0">
              <a:buNone/>
            </a:pPr>
            <a:r>
              <a:rPr lang="en-US" dirty="0"/>
              <a:t>    Generate reset token</a:t>
            </a:r>
          </a:p>
          <a:p>
            <a:pPr marL="0" indent="0">
              <a:buNone/>
            </a:pPr>
            <a:r>
              <a:rPr lang="en-US" dirty="0"/>
              <a:t>    Send reset link to user email</a:t>
            </a:r>
          </a:p>
          <a:p>
            <a:pPr marL="0" indent="0">
              <a:buNone/>
            </a:pPr>
            <a:r>
              <a:rPr lang="en-US" dirty="0"/>
              <a:t>    Display "Password reset link sent"</a:t>
            </a:r>
          </a:p>
          <a:p>
            <a:pPr marL="0" indent="0">
              <a:buNone/>
            </a:pPr>
            <a:r>
              <a:rPr lang="en-US" dirty="0"/>
              <a:t>END IF</a:t>
            </a:r>
          </a:p>
          <a:p>
            <a:pPr marL="0" indent="0">
              <a:buNone/>
            </a:pPr>
            <a:r>
              <a:rPr lang="en-US" dirty="0"/>
              <a:t>END</a:t>
            </a:r>
          </a:p>
          <a:p>
            <a:pPr marL="0" indent="0">
              <a:buNone/>
            </a:pPr>
            <a:endParaRPr lang="en-IN" dirty="0"/>
          </a:p>
        </p:txBody>
      </p:sp>
    </p:spTree>
    <p:extLst>
      <p:ext uri="{BB962C8B-B14F-4D97-AF65-F5344CB8AC3E}">
        <p14:creationId xmlns:p14="http://schemas.microsoft.com/office/powerpoint/2010/main" val="3079593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C461C-4018-A74D-2025-76AE0C30CFA7}"/>
              </a:ext>
            </a:extLst>
          </p:cNvPr>
          <p:cNvSpPr>
            <a:spLocks noGrp="1"/>
          </p:cNvSpPr>
          <p:nvPr>
            <p:ph type="title"/>
          </p:nvPr>
        </p:nvSpPr>
        <p:spPr>
          <a:xfrm>
            <a:off x="1318393" y="108155"/>
            <a:ext cx="9905998" cy="1248697"/>
          </a:xfrm>
        </p:spPr>
        <p:txBody>
          <a:bodyPr>
            <a:normAutofit/>
          </a:bodyPr>
          <a:lstStyle/>
          <a:p>
            <a:pPr algn="ctr"/>
            <a:r>
              <a:rPr lang="en-IN" sz="4800" b="1" dirty="0"/>
              <a:t>Reset Password</a:t>
            </a:r>
            <a:endParaRPr lang="en-IN" sz="4800" dirty="0"/>
          </a:p>
        </p:txBody>
      </p:sp>
      <p:sp>
        <p:nvSpPr>
          <p:cNvPr id="3" name="Content Placeholder 2">
            <a:extLst>
              <a:ext uri="{FF2B5EF4-FFF2-40B4-BE49-F238E27FC236}">
                <a16:creationId xmlns:a16="http://schemas.microsoft.com/office/drawing/2014/main" id="{A57789CB-125D-ED25-F856-34BDA4F552CA}"/>
              </a:ext>
            </a:extLst>
          </p:cNvPr>
          <p:cNvSpPr>
            <a:spLocks noGrp="1"/>
          </p:cNvSpPr>
          <p:nvPr>
            <p:ph idx="1"/>
          </p:nvPr>
        </p:nvSpPr>
        <p:spPr>
          <a:xfrm>
            <a:off x="1143001" y="1258532"/>
            <a:ext cx="9905998" cy="4906296"/>
          </a:xfrm>
        </p:spPr>
        <p:txBody>
          <a:bodyPr>
            <a:normAutofit fontScale="92500" lnSpcReduction="10000"/>
          </a:bodyPr>
          <a:lstStyle/>
          <a:p>
            <a:pPr marL="0" indent="0">
              <a:buNone/>
            </a:pPr>
            <a:r>
              <a:rPr lang="en-IN" dirty="0"/>
              <a:t>START</a:t>
            </a:r>
          </a:p>
          <a:p>
            <a:pPr marL="0" indent="0">
              <a:buNone/>
            </a:pPr>
            <a:r>
              <a:rPr lang="en-IN" dirty="0"/>
              <a:t>Receive reset password request</a:t>
            </a:r>
          </a:p>
          <a:p>
            <a:pPr marL="0" indent="0">
              <a:buNone/>
            </a:pPr>
            <a:r>
              <a:rPr lang="en-IN" dirty="0"/>
              <a:t>Validate reset token</a:t>
            </a:r>
          </a:p>
          <a:p>
            <a:pPr marL="0" indent="0">
              <a:buNone/>
            </a:pPr>
            <a:r>
              <a:rPr lang="en-IN" dirty="0"/>
              <a:t>IF token invalid or expired THEN</a:t>
            </a:r>
          </a:p>
          <a:p>
            <a:pPr marL="0" indent="0">
              <a:buNone/>
            </a:pPr>
            <a:r>
              <a:rPr lang="en-IN" dirty="0"/>
              <a:t>    Display "Invalid token"</a:t>
            </a:r>
          </a:p>
          <a:p>
            <a:pPr marL="0" indent="0">
              <a:buNone/>
            </a:pPr>
            <a:r>
              <a:rPr lang="en-IN" dirty="0"/>
              <a:t>ELSE</a:t>
            </a:r>
          </a:p>
          <a:p>
            <a:pPr marL="0" indent="0">
              <a:buNone/>
            </a:pPr>
            <a:r>
              <a:rPr lang="en-IN" dirty="0"/>
              <a:t>    Encrypt new password</a:t>
            </a:r>
          </a:p>
          <a:p>
            <a:pPr marL="0" indent="0">
              <a:buNone/>
            </a:pPr>
            <a:r>
              <a:rPr lang="en-IN" dirty="0"/>
              <a:t>    Update password in database</a:t>
            </a:r>
          </a:p>
          <a:p>
            <a:pPr marL="0" indent="0">
              <a:buNone/>
            </a:pPr>
            <a:r>
              <a:rPr lang="en-IN" dirty="0"/>
              <a:t>    Clear reset token</a:t>
            </a:r>
          </a:p>
          <a:p>
            <a:pPr marL="0" indent="0">
              <a:buNone/>
            </a:pPr>
            <a:r>
              <a:rPr lang="en-IN" dirty="0"/>
              <a:t>    Display "Password reset successful"</a:t>
            </a:r>
          </a:p>
          <a:p>
            <a:pPr marL="0" indent="0">
              <a:buNone/>
            </a:pPr>
            <a:r>
              <a:rPr lang="en-IN" dirty="0"/>
              <a:t>END IF</a:t>
            </a:r>
          </a:p>
          <a:p>
            <a:pPr marL="0" indent="0">
              <a:buNone/>
            </a:pPr>
            <a:r>
              <a:rPr lang="en-IN" dirty="0"/>
              <a:t>END</a:t>
            </a:r>
          </a:p>
          <a:p>
            <a:pPr marL="0" indent="0">
              <a:buNone/>
            </a:pPr>
            <a:endParaRPr lang="en-IN" dirty="0"/>
          </a:p>
        </p:txBody>
      </p:sp>
    </p:spTree>
    <p:extLst>
      <p:ext uri="{BB962C8B-B14F-4D97-AF65-F5344CB8AC3E}">
        <p14:creationId xmlns:p14="http://schemas.microsoft.com/office/powerpoint/2010/main" val="729498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AB0CD-F4B8-57DD-FE69-0F4225A211FC}"/>
              </a:ext>
            </a:extLst>
          </p:cNvPr>
          <p:cNvSpPr>
            <a:spLocks noGrp="1"/>
          </p:cNvSpPr>
          <p:nvPr>
            <p:ph type="title"/>
          </p:nvPr>
        </p:nvSpPr>
        <p:spPr>
          <a:xfrm>
            <a:off x="1141413" y="265471"/>
            <a:ext cx="9905998" cy="1376516"/>
          </a:xfrm>
        </p:spPr>
        <p:txBody>
          <a:bodyPr>
            <a:normAutofit/>
          </a:bodyPr>
          <a:lstStyle/>
          <a:p>
            <a:pPr algn="ctr"/>
            <a:r>
              <a:rPr lang="en-IN" sz="4800" b="1" dirty="0">
                <a:effectLst/>
              </a:rPr>
              <a:t>Authentication Flow </a:t>
            </a:r>
            <a:endParaRPr lang="en-IN" sz="4800" b="1" dirty="0"/>
          </a:p>
        </p:txBody>
      </p:sp>
      <p:sp>
        <p:nvSpPr>
          <p:cNvPr id="3" name="Content Placeholder 2">
            <a:extLst>
              <a:ext uri="{FF2B5EF4-FFF2-40B4-BE49-F238E27FC236}">
                <a16:creationId xmlns:a16="http://schemas.microsoft.com/office/drawing/2014/main" id="{75799556-EBAA-32BE-7704-A6FF9E9223E3}"/>
              </a:ext>
            </a:extLst>
          </p:cNvPr>
          <p:cNvSpPr>
            <a:spLocks noGrp="1"/>
          </p:cNvSpPr>
          <p:nvPr>
            <p:ph idx="1"/>
          </p:nvPr>
        </p:nvSpPr>
        <p:spPr>
          <a:xfrm>
            <a:off x="1141413" y="1406013"/>
            <a:ext cx="9905998" cy="4385187"/>
          </a:xfrm>
        </p:spPr>
        <p:txBody>
          <a:bodyPr>
            <a:normAutofit/>
          </a:bodyPr>
          <a:lstStyle/>
          <a:p>
            <a:r>
              <a:rPr lang="en-IN" sz="2800" b="1" dirty="0"/>
              <a:t>Signup</a:t>
            </a:r>
          </a:p>
          <a:p>
            <a:pPr marL="0" indent="0">
              <a:buNone/>
            </a:pPr>
            <a:r>
              <a:rPr lang="en-IN" sz="2800" dirty="0"/>
              <a:t>    UI → Controller → Service → Repository → Database</a:t>
            </a:r>
          </a:p>
          <a:p>
            <a:r>
              <a:rPr lang="en-IN" sz="2800" b="1" dirty="0" err="1"/>
              <a:t>Signin</a:t>
            </a:r>
            <a:endParaRPr lang="en-IN" sz="2800" b="1" dirty="0"/>
          </a:p>
          <a:p>
            <a:pPr marL="0" indent="0">
              <a:buNone/>
            </a:pPr>
            <a:r>
              <a:rPr lang="en-IN" sz="2800" dirty="0"/>
              <a:t>    UI → Controller → Service → JWT Token → UI</a:t>
            </a:r>
          </a:p>
          <a:p>
            <a:r>
              <a:rPr lang="en-IN" sz="2800" b="1" dirty="0"/>
              <a:t>Forgot Password</a:t>
            </a:r>
          </a:p>
          <a:p>
            <a:pPr marL="0" indent="0">
              <a:buNone/>
            </a:pPr>
            <a:r>
              <a:rPr lang="en-IN" sz="2800" dirty="0"/>
              <a:t>   UI → Controller → Service → Email Service → User</a:t>
            </a:r>
          </a:p>
          <a:p>
            <a:endParaRPr lang="en-IN" sz="2800" dirty="0"/>
          </a:p>
        </p:txBody>
      </p:sp>
    </p:spTree>
    <p:extLst>
      <p:ext uri="{BB962C8B-B14F-4D97-AF65-F5344CB8AC3E}">
        <p14:creationId xmlns:p14="http://schemas.microsoft.com/office/powerpoint/2010/main" val="1551275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B6808-F812-4BEB-A43B-C5BDF238ECD2}"/>
              </a:ext>
            </a:extLst>
          </p:cNvPr>
          <p:cNvSpPr>
            <a:spLocks noGrp="1"/>
          </p:cNvSpPr>
          <p:nvPr>
            <p:ph type="title"/>
          </p:nvPr>
        </p:nvSpPr>
        <p:spPr>
          <a:xfrm>
            <a:off x="1141413" y="250722"/>
            <a:ext cx="9905998" cy="1447800"/>
          </a:xfrm>
        </p:spPr>
        <p:txBody>
          <a:bodyPr>
            <a:normAutofit/>
          </a:bodyPr>
          <a:lstStyle/>
          <a:p>
            <a:pPr algn="ctr"/>
            <a:r>
              <a:rPr lang="en-IN" sz="4000" b="1" dirty="0"/>
              <a:t>BENEFITS OF AUTHENTICATION MODULE</a:t>
            </a:r>
            <a:endParaRPr lang="en-IN" sz="4000" dirty="0"/>
          </a:p>
        </p:txBody>
      </p:sp>
      <p:sp>
        <p:nvSpPr>
          <p:cNvPr id="3" name="Content Placeholder 2">
            <a:extLst>
              <a:ext uri="{FF2B5EF4-FFF2-40B4-BE49-F238E27FC236}">
                <a16:creationId xmlns:a16="http://schemas.microsoft.com/office/drawing/2014/main" id="{C5B91EB0-7E5F-2CDD-7E37-61501A6B7445}"/>
              </a:ext>
            </a:extLst>
          </p:cNvPr>
          <p:cNvSpPr>
            <a:spLocks noGrp="1"/>
          </p:cNvSpPr>
          <p:nvPr>
            <p:ph idx="1"/>
          </p:nvPr>
        </p:nvSpPr>
        <p:spPr>
          <a:xfrm>
            <a:off x="1141413" y="1288027"/>
            <a:ext cx="9905998" cy="4503174"/>
          </a:xfrm>
        </p:spPr>
        <p:txBody>
          <a:bodyPr>
            <a:normAutofit/>
          </a:bodyPr>
          <a:lstStyle/>
          <a:p>
            <a:pPr>
              <a:buFont typeface="Wingdings" panose="05000000000000000000" pitchFamily="2" charset="2"/>
              <a:buChar char="§"/>
            </a:pPr>
            <a:r>
              <a:rPr lang="en-US" dirty="0"/>
              <a:t>Ensures secure access to the system</a:t>
            </a:r>
          </a:p>
          <a:p>
            <a:pPr>
              <a:buFont typeface="Wingdings" panose="05000000000000000000" pitchFamily="2" charset="2"/>
              <a:buChar char="§"/>
            </a:pPr>
            <a:r>
              <a:rPr lang="en-US" dirty="0"/>
              <a:t>Prevents unauthorized users from logging in</a:t>
            </a:r>
          </a:p>
          <a:p>
            <a:pPr>
              <a:buFont typeface="Wingdings" panose="05000000000000000000" pitchFamily="2" charset="2"/>
              <a:buChar char="§"/>
            </a:pPr>
            <a:r>
              <a:rPr lang="en-US" dirty="0"/>
              <a:t>Protects user credentials using password encryption</a:t>
            </a:r>
          </a:p>
          <a:p>
            <a:pPr>
              <a:buFont typeface="Wingdings" panose="05000000000000000000" pitchFamily="2" charset="2"/>
              <a:buChar char="§"/>
            </a:pPr>
            <a:r>
              <a:rPr lang="en-US" dirty="0"/>
              <a:t>Supports role-based access control</a:t>
            </a:r>
          </a:p>
          <a:p>
            <a:pPr>
              <a:buFont typeface="Wingdings" panose="05000000000000000000" pitchFamily="2" charset="2"/>
              <a:buChar char="§"/>
            </a:pPr>
            <a:r>
              <a:rPr lang="en-US" dirty="0"/>
              <a:t>Enables secure session management using JWT tokens</a:t>
            </a:r>
          </a:p>
          <a:p>
            <a:pPr>
              <a:buFont typeface="Wingdings" panose="05000000000000000000" pitchFamily="2" charset="2"/>
              <a:buChar char="§"/>
            </a:pPr>
            <a:r>
              <a:rPr lang="en-US" dirty="0"/>
              <a:t>Provides safe password recovery through email </a:t>
            </a:r>
            <a:r>
              <a:rPr lang="en-US" dirty="0" err="1"/>
              <a:t>verificatio</a:t>
            </a:r>
            <a:endParaRPr lang="en-US" dirty="0"/>
          </a:p>
          <a:p>
            <a:pPr>
              <a:buFont typeface="Wingdings" panose="05000000000000000000" pitchFamily="2" charset="2"/>
              <a:buChar char="§"/>
            </a:pPr>
            <a:r>
              <a:rPr lang="en-US" dirty="0"/>
              <a:t>Improves overall system reliability and trust</a:t>
            </a:r>
          </a:p>
          <a:p>
            <a:pPr>
              <a:buFont typeface="Wingdings" panose="05000000000000000000" pitchFamily="2" charset="2"/>
              <a:buChar char="§"/>
            </a:pPr>
            <a:r>
              <a:rPr lang="en-US" dirty="0"/>
              <a:t>Reduces risk of data breaches and misuse</a:t>
            </a:r>
            <a:endParaRPr lang="en-IN" dirty="0"/>
          </a:p>
        </p:txBody>
      </p:sp>
    </p:spTree>
    <p:extLst>
      <p:ext uri="{BB962C8B-B14F-4D97-AF65-F5344CB8AC3E}">
        <p14:creationId xmlns:p14="http://schemas.microsoft.com/office/powerpoint/2010/main" val="890589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0293E-9EBC-C8AD-8A98-91D981A9962D}"/>
              </a:ext>
            </a:extLst>
          </p:cNvPr>
          <p:cNvSpPr>
            <a:spLocks noGrp="1"/>
          </p:cNvSpPr>
          <p:nvPr>
            <p:ph type="title"/>
          </p:nvPr>
        </p:nvSpPr>
        <p:spPr>
          <a:xfrm>
            <a:off x="1143001" y="314632"/>
            <a:ext cx="9905998" cy="1130710"/>
          </a:xfrm>
        </p:spPr>
        <p:txBody>
          <a:bodyPr>
            <a:normAutofit/>
          </a:bodyPr>
          <a:lstStyle/>
          <a:p>
            <a:pPr algn="ctr"/>
            <a:r>
              <a:rPr lang="en-IN" sz="3600" b="1" dirty="0"/>
              <a:t>CONCLUSION – AUTHENTICATION MODULE </a:t>
            </a:r>
            <a:endParaRPr lang="en-IN" sz="3600" dirty="0"/>
          </a:p>
        </p:txBody>
      </p:sp>
      <p:sp>
        <p:nvSpPr>
          <p:cNvPr id="3" name="Content Placeholder 2">
            <a:extLst>
              <a:ext uri="{FF2B5EF4-FFF2-40B4-BE49-F238E27FC236}">
                <a16:creationId xmlns:a16="http://schemas.microsoft.com/office/drawing/2014/main" id="{8BFBB81C-87C7-1B08-3F76-82EE06BAB12B}"/>
              </a:ext>
            </a:extLst>
          </p:cNvPr>
          <p:cNvSpPr>
            <a:spLocks noGrp="1"/>
          </p:cNvSpPr>
          <p:nvPr>
            <p:ph idx="1"/>
          </p:nvPr>
        </p:nvSpPr>
        <p:spPr>
          <a:xfrm>
            <a:off x="1141413" y="-186813"/>
            <a:ext cx="9905998" cy="6351639"/>
          </a:xfrm>
        </p:spPr>
        <p:txBody>
          <a:bodyPr>
            <a:normAutofit/>
          </a:bodyPr>
          <a:lstStyle/>
          <a:p>
            <a:pPr>
              <a:buFont typeface="Wingdings" panose="05000000000000000000" pitchFamily="2" charset="2"/>
              <a:buChar char="§"/>
            </a:pPr>
            <a:r>
              <a:rPr lang="en-US" sz="2800" dirty="0"/>
              <a:t>The Authentication Module ensures that only authorized users can access the system. It securely manages user registration, login, password validation, and session control. By verifying identities and enforcing access rules, this module protects sensitive data and maintains system integrity, making the application safe and reliable for all users.</a:t>
            </a:r>
            <a:endParaRPr lang="en-IN" sz="2800" dirty="0"/>
          </a:p>
        </p:txBody>
      </p:sp>
    </p:spTree>
    <p:extLst>
      <p:ext uri="{BB962C8B-B14F-4D97-AF65-F5344CB8AC3E}">
        <p14:creationId xmlns:p14="http://schemas.microsoft.com/office/powerpoint/2010/main" val="2489430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41C45-29F5-AB0E-A55D-F71D522217A0}"/>
              </a:ext>
            </a:extLst>
          </p:cNvPr>
          <p:cNvSpPr>
            <a:spLocks noGrp="1"/>
          </p:cNvSpPr>
          <p:nvPr>
            <p:ph type="title"/>
          </p:nvPr>
        </p:nvSpPr>
        <p:spPr>
          <a:xfrm>
            <a:off x="1141413" y="1"/>
            <a:ext cx="9905998" cy="6646606"/>
          </a:xfrm>
        </p:spPr>
        <p:txBody>
          <a:bodyPr>
            <a:normAutofit/>
          </a:bodyPr>
          <a:lstStyle/>
          <a:p>
            <a:pPr algn="ctr"/>
            <a:r>
              <a:rPr lang="en-US" sz="5400" b="1" dirty="0">
                <a:effectLst/>
              </a:rPr>
              <a:t>Module 2</a:t>
            </a:r>
            <a:br>
              <a:rPr lang="en-US" sz="5400" b="1" dirty="0">
                <a:effectLst/>
              </a:rPr>
            </a:br>
            <a:r>
              <a:rPr lang="en-US" sz="5400" b="1" dirty="0">
                <a:effectLst/>
              </a:rPr>
              <a:t>Product/Inventory Management</a:t>
            </a:r>
            <a:endParaRPr lang="en-IN" sz="5400" b="1" dirty="0"/>
          </a:p>
        </p:txBody>
      </p:sp>
    </p:spTree>
    <p:extLst>
      <p:ext uri="{BB962C8B-B14F-4D97-AF65-F5344CB8AC3E}">
        <p14:creationId xmlns:p14="http://schemas.microsoft.com/office/powerpoint/2010/main" val="1401851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E6BF0-079F-B224-49D9-844DB77B2C17}"/>
              </a:ext>
            </a:extLst>
          </p:cNvPr>
          <p:cNvSpPr>
            <a:spLocks noGrp="1"/>
          </p:cNvSpPr>
          <p:nvPr>
            <p:ph type="title"/>
          </p:nvPr>
        </p:nvSpPr>
        <p:spPr>
          <a:xfrm>
            <a:off x="1141413" y="358877"/>
            <a:ext cx="9905998" cy="1568245"/>
          </a:xfrm>
        </p:spPr>
        <p:txBody>
          <a:bodyPr>
            <a:normAutofit/>
          </a:bodyPr>
          <a:lstStyle/>
          <a:p>
            <a:r>
              <a:rPr lang="en-IN" b="1" dirty="0"/>
              <a:t>OVERVIEW OF PRODUCT MANAGEMENT MODULE</a:t>
            </a:r>
            <a:endParaRPr lang="en-IN" dirty="0"/>
          </a:p>
        </p:txBody>
      </p:sp>
      <p:sp>
        <p:nvSpPr>
          <p:cNvPr id="3" name="Content Placeholder 2">
            <a:extLst>
              <a:ext uri="{FF2B5EF4-FFF2-40B4-BE49-F238E27FC236}">
                <a16:creationId xmlns:a16="http://schemas.microsoft.com/office/drawing/2014/main" id="{B303A21A-C839-C59A-F849-167EC41F187F}"/>
              </a:ext>
            </a:extLst>
          </p:cNvPr>
          <p:cNvSpPr>
            <a:spLocks noGrp="1"/>
          </p:cNvSpPr>
          <p:nvPr>
            <p:ph idx="1"/>
          </p:nvPr>
        </p:nvSpPr>
        <p:spPr>
          <a:xfrm>
            <a:off x="1141413" y="1671485"/>
            <a:ext cx="9905998" cy="4119716"/>
          </a:xfrm>
        </p:spPr>
        <p:txBody>
          <a:bodyPr>
            <a:noAutofit/>
          </a:bodyPr>
          <a:lstStyle/>
          <a:p>
            <a:pPr>
              <a:buFont typeface="Wingdings" panose="05000000000000000000" pitchFamily="2" charset="2"/>
              <a:buChar char="§"/>
            </a:pPr>
            <a:r>
              <a:rPr lang="en-US" sz="2800" dirty="0"/>
              <a:t>This module manages all product details and inventory stock.</a:t>
            </a:r>
          </a:p>
          <a:p>
            <a:pPr>
              <a:buFont typeface="Wingdings" panose="05000000000000000000" pitchFamily="2" charset="2"/>
              <a:buChar char="§"/>
            </a:pPr>
            <a:r>
              <a:rPr lang="en-US" sz="2800" dirty="0"/>
              <a:t>It allows users to add, update, view, and delete products.</a:t>
            </a:r>
          </a:p>
          <a:p>
            <a:pPr>
              <a:buFont typeface="Wingdings" panose="05000000000000000000" pitchFamily="2" charset="2"/>
              <a:buChar char="§"/>
            </a:pPr>
            <a:r>
              <a:rPr lang="en-US" sz="2800" dirty="0"/>
              <a:t>The module tracks product quantity and updates stock automatically.</a:t>
            </a:r>
          </a:p>
          <a:p>
            <a:pPr>
              <a:buFont typeface="Wingdings" panose="05000000000000000000" pitchFamily="2" charset="2"/>
              <a:buChar char="§"/>
            </a:pPr>
            <a:r>
              <a:rPr lang="en-US" sz="2800" dirty="0"/>
              <a:t>It helps avoid low stock and overstock situations.</a:t>
            </a:r>
          </a:p>
          <a:p>
            <a:pPr>
              <a:buFont typeface="Wingdings" panose="05000000000000000000" pitchFamily="2" charset="2"/>
              <a:buChar char="§"/>
            </a:pPr>
            <a:r>
              <a:rPr lang="en-US" sz="2800" dirty="0"/>
              <a:t>This module ensures accurate and organized inventory data.</a:t>
            </a:r>
            <a:endParaRPr lang="en-IN" sz="2800" dirty="0"/>
          </a:p>
        </p:txBody>
      </p:sp>
    </p:spTree>
    <p:extLst>
      <p:ext uri="{BB962C8B-B14F-4D97-AF65-F5344CB8AC3E}">
        <p14:creationId xmlns:p14="http://schemas.microsoft.com/office/powerpoint/2010/main" val="2542582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0C83D-79BB-36D9-6B5D-EC094ECEE4B8}"/>
              </a:ext>
            </a:extLst>
          </p:cNvPr>
          <p:cNvSpPr>
            <a:spLocks noGrp="1"/>
          </p:cNvSpPr>
          <p:nvPr>
            <p:ph type="title"/>
          </p:nvPr>
        </p:nvSpPr>
        <p:spPr>
          <a:xfrm>
            <a:off x="1141413" y="324465"/>
            <a:ext cx="9905998" cy="1238865"/>
          </a:xfrm>
        </p:spPr>
        <p:txBody>
          <a:bodyPr>
            <a:normAutofit/>
          </a:bodyPr>
          <a:lstStyle/>
          <a:p>
            <a:r>
              <a:rPr lang="en-IN" sz="4000" b="1" dirty="0">
                <a:effectLst/>
              </a:rPr>
              <a:t>Key Classes – PRODUCT MANAGEMENT</a:t>
            </a:r>
            <a:endParaRPr lang="en-IN" sz="4000" b="1" dirty="0"/>
          </a:p>
        </p:txBody>
      </p:sp>
      <p:sp>
        <p:nvSpPr>
          <p:cNvPr id="3" name="Content Placeholder 2">
            <a:extLst>
              <a:ext uri="{FF2B5EF4-FFF2-40B4-BE49-F238E27FC236}">
                <a16:creationId xmlns:a16="http://schemas.microsoft.com/office/drawing/2014/main" id="{3AC7B797-AAF4-C20A-530E-EC0145E32F82}"/>
              </a:ext>
            </a:extLst>
          </p:cNvPr>
          <p:cNvSpPr>
            <a:spLocks noGrp="1"/>
          </p:cNvSpPr>
          <p:nvPr>
            <p:ph idx="1"/>
          </p:nvPr>
        </p:nvSpPr>
        <p:spPr>
          <a:xfrm>
            <a:off x="1141413" y="432620"/>
            <a:ext cx="9905998" cy="6282812"/>
          </a:xfrm>
        </p:spPr>
        <p:txBody>
          <a:bodyPr>
            <a:normAutofit/>
          </a:bodyPr>
          <a:lstStyle/>
          <a:p>
            <a:r>
              <a:rPr lang="en-IN" sz="2600" b="1" dirty="0"/>
              <a:t>Product</a:t>
            </a:r>
            <a:br>
              <a:rPr lang="en-IN" sz="2600" dirty="0"/>
            </a:br>
            <a:r>
              <a:rPr lang="en-IN" sz="2600" dirty="0"/>
              <a:t>→ Holds product details and stock count</a:t>
            </a:r>
          </a:p>
          <a:p>
            <a:r>
              <a:rPr lang="en-IN" sz="2600" b="1" dirty="0" err="1"/>
              <a:t>ProductController</a:t>
            </a:r>
            <a:br>
              <a:rPr lang="en-IN" sz="2600" dirty="0"/>
            </a:br>
            <a:r>
              <a:rPr lang="en-IN" sz="2600" dirty="0"/>
              <a:t>→ Takes requests from user/UI</a:t>
            </a:r>
          </a:p>
          <a:p>
            <a:r>
              <a:rPr lang="en-IN" sz="2600" b="1" dirty="0" err="1"/>
              <a:t>ProductService</a:t>
            </a:r>
            <a:br>
              <a:rPr lang="en-IN" sz="2600" dirty="0"/>
            </a:br>
            <a:r>
              <a:rPr lang="en-IN" sz="2600" dirty="0"/>
              <a:t>→ Does main work (add product, increase/decrease stock, check alerts)</a:t>
            </a:r>
          </a:p>
          <a:p>
            <a:r>
              <a:rPr lang="en-IN" sz="2600" b="1" dirty="0" err="1"/>
              <a:t>ProductRepository</a:t>
            </a:r>
            <a:br>
              <a:rPr lang="en-IN" sz="2600" dirty="0"/>
            </a:br>
            <a:r>
              <a:rPr lang="en-IN" sz="2600" dirty="0"/>
              <a:t>→ Saves and gets data from database</a:t>
            </a:r>
          </a:p>
        </p:txBody>
      </p:sp>
    </p:spTree>
    <p:extLst>
      <p:ext uri="{BB962C8B-B14F-4D97-AF65-F5344CB8AC3E}">
        <p14:creationId xmlns:p14="http://schemas.microsoft.com/office/powerpoint/2010/main" val="1910609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B4E21-18B8-FC2D-D155-EEAA06288E11}"/>
              </a:ext>
            </a:extLst>
          </p:cNvPr>
          <p:cNvSpPr>
            <a:spLocks noGrp="1"/>
          </p:cNvSpPr>
          <p:nvPr>
            <p:ph type="title"/>
          </p:nvPr>
        </p:nvSpPr>
        <p:spPr>
          <a:xfrm>
            <a:off x="1143001" y="206478"/>
            <a:ext cx="9905998" cy="1209368"/>
          </a:xfrm>
        </p:spPr>
        <p:txBody>
          <a:bodyPr>
            <a:normAutofit/>
          </a:bodyPr>
          <a:lstStyle/>
          <a:p>
            <a:pPr algn="ctr"/>
            <a:r>
              <a:rPr lang="en-IN" sz="4400" b="1" dirty="0">
                <a:effectLst/>
              </a:rPr>
              <a:t>Product Class (Entity)</a:t>
            </a:r>
            <a:endParaRPr lang="en-IN" sz="4400" b="1" dirty="0"/>
          </a:p>
        </p:txBody>
      </p:sp>
      <p:sp>
        <p:nvSpPr>
          <p:cNvPr id="3" name="Content Placeholder 2">
            <a:extLst>
              <a:ext uri="{FF2B5EF4-FFF2-40B4-BE49-F238E27FC236}">
                <a16:creationId xmlns:a16="http://schemas.microsoft.com/office/drawing/2014/main" id="{BFC6FB66-85CF-212B-3C9C-B7D7E4B9E420}"/>
              </a:ext>
            </a:extLst>
          </p:cNvPr>
          <p:cNvSpPr>
            <a:spLocks noGrp="1"/>
          </p:cNvSpPr>
          <p:nvPr>
            <p:ph idx="1"/>
          </p:nvPr>
        </p:nvSpPr>
        <p:spPr>
          <a:xfrm>
            <a:off x="1141413" y="1032387"/>
            <a:ext cx="9905998" cy="5466736"/>
          </a:xfrm>
        </p:spPr>
        <p:txBody>
          <a:bodyPr>
            <a:normAutofit/>
          </a:bodyPr>
          <a:lstStyle/>
          <a:p>
            <a:pPr marL="0" indent="0">
              <a:buNone/>
            </a:pPr>
            <a:r>
              <a:rPr lang="en-US" dirty="0"/>
              <a:t>CLASS Product</a:t>
            </a:r>
          </a:p>
          <a:p>
            <a:pPr marL="0" indent="0">
              <a:buNone/>
            </a:pPr>
            <a:r>
              <a:rPr lang="en-US" dirty="0"/>
              <a:t>    </a:t>
            </a:r>
            <a:r>
              <a:rPr lang="en-US" dirty="0" err="1"/>
              <a:t>productId</a:t>
            </a:r>
            <a:r>
              <a:rPr lang="en-US" dirty="0"/>
              <a:t>       // Unique identifier for the product</a:t>
            </a:r>
          </a:p>
          <a:p>
            <a:pPr marL="0" indent="0">
              <a:buNone/>
            </a:pPr>
            <a:r>
              <a:rPr lang="en-US" dirty="0"/>
              <a:t>    </a:t>
            </a:r>
            <a:r>
              <a:rPr lang="en-US" dirty="0" err="1"/>
              <a:t>sku</a:t>
            </a:r>
            <a:r>
              <a:rPr lang="en-US" dirty="0"/>
              <a:t>             // Stock Keeping Unit, used to track products</a:t>
            </a:r>
          </a:p>
          <a:p>
            <a:pPr marL="0" indent="0">
              <a:buNone/>
            </a:pPr>
            <a:r>
              <a:rPr lang="en-US" dirty="0"/>
              <a:t>    name            // Name of the product</a:t>
            </a:r>
          </a:p>
          <a:p>
            <a:pPr marL="0" indent="0">
              <a:buNone/>
            </a:pPr>
            <a:r>
              <a:rPr lang="en-US" dirty="0"/>
              <a:t>    category        // Category/type the product belongs to</a:t>
            </a:r>
          </a:p>
          <a:p>
            <a:pPr marL="0" indent="0">
              <a:buNone/>
            </a:pPr>
            <a:r>
              <a:rPr lang="en-US" dirty="0"/>
              <a:t>    supplier        // Supplier or vendor of the product</a:t>
            </a:r>
          </a:p>
          <a:p>
            <a:pPr marL="0" indent="0">
              <a:buNone/>
            </a:pPr>
            <a:r>
              <a:rPr lang="en-US" dirty="0"/>
              <a:t>    </a:t>
            </a:r>
            <a:r>
              <a:rPr lang="en-US" dirty="0" err="1"/>
              <a:t>unitPrice</a:t>
            </a:r>
            <a:r>
              <a:rPr lang="en-US" dirty="0"/>
              <a:t>       // Price per unit of the product</a:t>
            </a:r>
          </a:p>
          <a:p>
            <a:pPr marL="0" indent="0">
              <a:buNone/>
            </a:pPr>
            <a:r>
              <a:rPr lang="en-US" dirty="0"/>
              <a:t>    </a:t>
            </a:r>
            <a:r>
              <a:rPr lang="en-US" dirty="0" err="1"/>
              <a:t>stockQuantity</a:t>
            </a:r>
            <a:r>
              <a:rPr lang="en-US" dirty="0"/>
              <a:t>   // Current stock available</a:t>
            </a:r>
          </a:p>
          <a:p>
            <a:pPr marL="0" indent="0">
              <a:buNone/>
            </a:pPr>
            <a:r>
              <a:rPr lang="en-US" dirty="0"/>
              <a:t>    </a:t>
            </a:r>
            <a:r>
              <a:rPr lang="en-US" dirty="0" err="1"/>
              <a:t>minStockLevel</a:t>
            </a:r>
            <a:r>
              <a:rPr lang="en-US" dirty="0"/>
              <a:t>   // Minimum stock before reordering</a:t>
            </a:r>
          </a:p>
          <a:p>
            <a:pPr marL="0" indent="0">
              <a:buNone/>
            </a:pPr>
            <a:r>
              <a:rPr lang="en-US" dirty="0"/>
              <a:t>END CLASS</a:t>
            </a:r>
          </a:p>
          <a:p>
            <a:endParaRPr lang="en-IN" dirty="0"/>
          </a:p>
        </p:txBody>
      </p:sp>
    </p:spTree>
    <p:extLst>
      <p:ext uri="{BB962C8B-B14F-4D97-AF65-F5344CB8AC3E}">
        <p14:creationId xmlns:p14="http://schemas.microsoft.com/office/powerpoint/2010/main" val="2627572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267F6-89B1-CE91-33AF-63C68DFAF98C}"/>
              </a:ext>
            </a:extLst>
          </p:cNvPr>
          <p:cNvSpPr>
            <a:spLocks noGrp="1"/>
          </p:cNvSpPr>
          <p:nvPr>
            <p:ph type="title"/>
          </p:nvPr>
        </p:nvSpPr>
        <p:spPr>
          <a:xfrm>
            <a:off x="1260988" y="245806"/>
            <a:ext cx="9905998" cy="1189703"/>
          </a:xfrm>
        </p:spPr>
        <p:txBody>
          <a:bodyPr>
            <a:normAutofit/>
          </a:bodyPr>
          <a:lstStyle/>
          <a:p>
            <a:pPr algn="ctr"/>
            <a:r>
              <a:rPr lang="en-IN" sz="4400" b="1" dirty="0" err="1">
                <a:effectLst/>
              </a:rPr>
              <a:t>ProductController</a:t>
            </a:r>
            <a:r>
              <a:rPr lang="en-IN" sz="4400" b="1" dirty="0">
                <a:effectLst/>
              </a:rPr>
              <a:t> Class</a:t>
            </a:r>
            <a:endParaRPr lang="en-IN" sz="4400" b="1" dirty="0"/>
          </a:p>
        </p:txBody>
      </p:sp>
      <p:sp>
        <p:nvSpPr>
          <p:cNvPr id="3" name="Content Placeholder 2">
            <a:extLst>
              <a:ext uri="{FF2B5EF4-FFF2-40B4-BE49-F238E27FC236}">
                <a16:creationId xmlns:a16="http://schemas.microsoft.com/office/drawing/2014/main" id="{B3BFC6E9-05C5-D175-43B9-A9937A77B5C9}"/>
              </a:ext>
            </a:extLst>
          </p:cNvPr>
          <p:cNvSpPr>
            <a:spLocks noGrp="1"/>
          </p:cNvSpPr>
          <p:nvPr>
            <p:ph idx="1"/>
          </p:nvPr>
        </p:nvSpPr>
        <p:spPr>
          <a:xfrm>
            <a:off x="1143001" y="1543665"/>
            <a:ext cx="9905998" cy="4911213"/>
          </a:xfrm>
        </p:spPr>
        <p:txBody>
          <a:bodyPr>
            <a:normAutofit/>
          </a:bodyPr>
          <a:lstStyle/>
          <a:p>
            <a:pPr marL="0" indent="0">
              <a:buNone/>
            </a:pPr>
            <a:r>
              <a:rPr lang="en-IN" dirty="0">
                <a:effectLst/>
              </a:rPr>
              <a:t>CLASS </a:t>
            </a:r>
            <a:r>
              <a:rPr lang="en-IN" dirty="0" err="1">
                <a:effectLst/>
              </a:rPr>
              <a:t>ProductController</a:t>
            </a:r>
            <a:endParaRPr lang="en-IN" dirty="0">
              <a:effectLst/>
            </a:endParaRPr>
          </a:p>
          <a:p>
            <a:pPr marL="0" indent="0">
              <a:buNone/>
            </a:pPr>
            <a:r>
              <a:rPr lang="en-IN" dirty="0">
                <a:effectLst/>
              </a:rPr>
              <a:t>    FUNCTION </a:t>
            </a:r>
            <a:r>
              <a:rPr lang="en-IN" dirty="0" err="1">
                <a:effectLst/>
              </a:rPr>
              <a:t>addProduct</a:t>
            </a:r>
            <a:r>
              <a:rPr lang="en-IN" dirty="0">
                <a:effectLst/>
              </a:rPr>
              <a:t>(</a:t>
            </a:r>
            <a:r>
              <a:rPr lang="en-IN" dirty="0" err="1">
                <a:effectLst/>
              </a:rPr>
              <a:t>productData</a:t>
            </a:r>
            <a:r>
              <a:rPr lang="en-IN" dirty="0">
                <a:effectLst/>
              </a:rPr>
              <a:t>)</a:t>
            </a:r>
          </a:p>
          <a:p>
            <a:pPr marL="0" indent="0">
              <a:buNone/>
            </a:pPr>
            <a:r>
              <a:rPr lang="en-IN" dirty="0">
                <a:effectLst/>
              </a:rPr>
              <a:t>        </a:t>
            </a:r>
            <a:r>
              <a:rPr lang="en-IN" dirty="0" err="1">
                <a:effectLst/>
              </a:rPr>
              <a:t>ProductService.addProduct</a:t>
            </a:r>
            <a:r>
              <a:rPr lang="en-IN" dirty="0">
                <a:effectLst/>
              </a:rPr>
              <a:t>(</a:t>
            </a:r>
            <a:r>
              <a:rPr lang="en-IN" dirty="0" err="1">
                <a:effectLst/>
              </a:rPr>
              <a:t>productData</a:t>
            </a:r>
            <a:r>
              <a:rPr lang="en-IN" dirty="0">
                <a:effectLst/>
              </a:rPr>
              <a:t>)</a:t>
            </a:r>
          </a:p>
          <a:p>
            <a:pPr marL="0" indent="0">
              <a:buNone/>
            </a:pPr>
            <a:r>
              <a:rPr lang="en-IN" dirty="0">
                <a:effectLst/>
              </a:rPr>
              <a:t>    END FUNCTION</a:t>
            </a:r>
          </a:p>
          <a:p>
            <a:pPr marL="0" indent="0">
              <a:buNone/>
            </a:pPr>
            <a:r>
              <a:rPr lang="en-IN" dirty="0">
                <a:effectLst/>
              </a:rPr>
              <a:t>    FUNCTION </a:t>
            </a:r>
            <a:r>
              <a:rPr lang="en-IN" dirty="0" err="1">
                <a:effectLst/>
              </a:rPr>
              <a:t>stockIn</a:t>
            </a:r>
            <a:r>
              <a:rPr lang="en-IN" dirty="0">
                <a:effectLst/>
              </a:rPr>
              <a:t>(</a:t>
            </a:r>
            <a:r>
              <a:rPr lang="en-IN" dirty="0" err="1">
                <a:effectLst/>
              </a:rPr>
              <a:t>productId</a:t>
            </a:r>
            <a:r>
              <a:rPr lang="en-IN" dirty="0">
                <a:effectLst/>
              </a:rPr>
              <a:t>, quantity)</a:t>
            </a:r>
          </a:p>
          <a:p>
            <a:pPr marL="0" indent="0">
              <a:buNone/>
            </a:pPr>
            <a:r>
              <a:rPr lang="en-IN" dirty="0">
                <a:effectLst/>
              </a:rPr>
              <a:t>       </a:t>
            </a:r>
            <a:r>
              <a:rPr lang="en-IN" dirty="0" err="1">
                <a:effectLst/>
              </a:rPr>
              <a:t>ProductService.increaseStock</a:t>
            </a:r>
            <a:r>
              <a:rPr lang="en-IN" dirty="0">
                <a:effectLst/>
              </a:rPr>
              <a:t>(</a:t>
            </a:r>
            <a:r>
              <a:rPr lang="en-IN" dirty="0" err="1">
                <a:effectLst/>
              </a:rPr>
              <a:t>productId</a:t>
            </a:r>
            <a:r>
              <a:rPr lang="en-IN" dirty="0">
                <a:effectLst/>
              </a:rPr>
              <a:t>, quantity)</a:t>
            </a:r>
          </a:p>
          <a:p>
            <a:pPr marL="0" indent="0">
              <a:buNone/>
            </a:pPr>
            <a:r>
              <a:rPr lang="en-IN" dirty="0">
                <a:effectLst/>
              </a:rPr>
              <a:t>    END FUNCTION</a:t>
            </a:r>
          </a:p>
          <a:p>
            <a:pPr marL="0" indent="0">
              <a:buNone/>
            </a:pPr>
            <a:r>
              <a:rPr lang="en-IN" dirty="0">
                <a:effectLst/>
              </a:rPr>
              <a:t>    FUNCTION </a:t>
            </a:r>
            <a:r>
              <a:rPr lang="en-IN" dirty="0" err="1">
                <a:effectLst/>
              </a:rPr>
              <a:t>stockOut</a:t>
            </a:r>
            <a:r>
              <a:rPr lang="en-IN" dirty="0">
                <a:effectLst/>
              </a:rPr>
              <a:t>(</a:t>
            </a:r>
            <a:r>
              <a:rPr lang="en-IN" dirty="0" err="1">
                <a:effectLst/>
              </a:rPr>
              <a:t>productId</a:t>
            </a:r>
            <a:r>
              <a:rPr lang="en-IN" dirty="0">
                <a:effectLst/>
              </a:rPr>
              <a:t>, quantity)</a:t>
            </a:r>
          </a:p>
          <a:p>
            <a:pPr marL="0" indent="0">
              <a:buNone/>
            </a:pPr>
            <a:r>
              <a:rPr lang="en-IN" dirty="0">
                <a:effectLst/>
              </a:rPr>
              <a:t>       </a:t>
            </a:r>
            <a:r>
              <a:rPr lang="en-IN" dirty="0" err="1">
                <a:effectLst/>
              </a:rPr>
              <a:t>ProductService.decreaseStock</a:t>
            </a:r>
            <a:r>
              <a:rPr lang="en-IN" dirty="0">
                <a:effectLst/>
              </a:rPr>
              <a:t>(</a:t>
            </a:r>
            <a:r>
              <a:rPr lang="en-IN" dirty="0" err="1">
                <a:effectLst/>
              </a:rPr>
              <a:t>productId</a:t>
            </a:r>
            <a:r>
              <a:rPr lang="en-IN" dirty="0">
                <a:effectLst/>
              </a:rPr>
              <a:t>, quantity)</a:t>
            </a:r>
          </a:p>
          <a:p>
            <a:pPr marL="0" indent="0">
              <a:buNone/>
            </a:pPr>
            <a:r>
              <a:rPr lang="en-IN" dirty="0">
                <a:effectLst/>
              </a:rPr>
              <a:t>    END FUNCTION</a:t>
            </a:r>
          </a:p>
          <a:p>
            <a:pPr marL="0" indent="0">
              <a:buNone/>
            </a:pPr>
            <a:r>
              <a:rPr lang="en-IN" dirty="0">
                <a:effectLst/>
              </a:rPr>
              <a:t>END CLASS</a:t>
            </a:r>
            <a:endParaRPr lang="en-IN" dirty="0"/>
          </a:p>
          <a:p>
            <a:endParaRPr lang="en-IN" dirty="0"/>
          </a:p>
        </p:txBody>
      </p:sp>
    </p:spTree>
    <p:extLst>
      <p:ext uri="{BB962C8B-B14F-4D97-AF65-F5344CB8AC3E}">
        <p14:creationId xmlns:p14="http://schemas.microsoft.com/office/powerpoint/2010/main" val="1471241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3968E-ADF7-914A-8923-C3C4287EE145}"/>
              </a:ext>
            </a:extLst>
          </p:cNvPr>
          <p:cNvSpPr>
            <a:spLocks noGrp="1"/>
          </p:cNvSpPr>
          <p:nvPr>
            <p:ph type="title"/>
          </p:nvPr>
        </p:nvSpPr>
        <p:spPr>
          <a:xfrm>
            <a:off x="1141413" y="334297"/>
            <a:ext cx="9905998" cy="1238865"/>
          </a:xfrm>
        </p:spPr>
        <p:txBody>
          <a:bodyPr>
            <a:normAutofit/>
          </a:bodyPr>
          <a:lstStyle/>
          <a:p>
            <a:pPr algn="ctr"/>
            <a:r>
              <a:rPr lang="en-IN" sz="4800" b="1" dirty="0" err="1">
                <a:effectLst/>
              </a:rPr>
              <a:t>ProductRepository</a:t>
            </a:r>
            <a:r>
              <a:rPr lang="en-IN" sz="4800" b="1" dirty="0">
                <a:effectLst/>
              </a:rPr>
              <a:t> Class</a:t>
            </a:r>
            <a:endParaRPr lang="en-IN" sz="4800" b="1" dirty="0"/>
          </a:p>
        </p:txBody>
      </p:sp>
      <p:sp>
        <p:nvSpPr>
          <p:cNvPr id="3" name="Content Placeholder 2">
            <a:extLst>
              <a:ext uri="{FF2B5EF4-FFF2-40B4-BE49-F238E27FC236}">
                <a16:creationId xmlns:a16="http://schemas.microsoft.com/office/drawing/2014/main" id="{ADD32F1C-BD85-41A0-79D1-FC7801B35FE7}"/>
              </a:ext>
            </a:extLst>
          </p:cNvPr>
          <p:cNvSpPr>
            <a:spLocks noGrp="1"/>
          </p:cNvSpPr>
          <p:nvPr>
            <p:ph idx="1"/>
          </p:nvPr>
        </p:nvSpPr>
        <p:spPr>
          <a:xfrm>
            <a:off x="1141413" y="1327355"/>
            <a:ext cx="9905998" cy="5196348"/>
          </a:xfrm>
        </p:spPr>
        <p:txBody>
          <a:bodyPr>
            <a:normAutofit/>
          </a:bodyPr>
          <a:lstStyle/>
          <a:p>
            <a:pPr marL="0" indent="0">
              <a:buNone/>
            </a:pPr>
            <a:r>
              <a:rPr lang="en-US" sz="2400" dirty="0"/>
              <a:t>CLASS </a:t>
            </a:r>
            <a:r>
              <a:rPr lang="en-US" sz="2400" dirty="0" err="1"/>
              <a:t>ProductRepository</a:t>
            </a:r>
            <a:endParaRPr lang="en-US" sz="2400" dirty="0"/>
          </a:p>
          <a:p>
            <a:pPr marL="0" indent="0">
              <a:buNone/>
            </a:pPr>
            <a:r>
              <a:rPr lang="en-US" sz="2400" dirty="0"/>
              <a:t>    FUNCTION </a:t>
            </a:r>
            <a:r>
              <a:rPr lang="en-US" sz="2400" dirty="0" err="1"/>
              <a:t>findById</a:t>
            </a:r>
            <a:r>
              <a:rPr lang="en-US" sz="2400" dirty="0"/>
              <a:t>(</a:t>
            </a:r>
            <a:r>
              <a:rPr lang="en-US" sz="2400" dirty="0" err="1"/>
              <a:t>productId</a:t>
            </a:r>
            <a:r>
              <a:rPr lang="en-US" sz="2400" dirty="0"/>
              <a:t>)</a:t>
            </a:r>
          </a:p>
          <a:p>
            <a:pPr marL="0" indent="0">
              <a:buNone/>
            </a:pPr>
            <a:r>
              <a:rPr lang="en-US" sz="2400" dirty="0"/>
              <a:t>        RETURN product</a:t>
            </a:r>
          </a:p>
          <a:p>
            <a:pPr marL="0" indent="0">
              <a:buNone/>
            </a:pPr>
            <a:r>
              <a:rPr lang="en-US" sz="2400" dirty="0"/>
              <a:t>    END FUNCTION</a:t>
            </a:r>
          </a:p>
          <a:p>
            <a:pPr marL="0" indent="0">
              <a:buNone/>
            </a:pPr>
            <a:r>
              <a:rPr lang="en-US" sz="2400" dirty="0"/>
              <a:t>    FUNCTION save(product)</a:t>
            </a:r>
          </a:p>
          <a:p>
            <a:pPr marL="0" indent="0">
              <a:buNone/>
            </a:pPr>
            <a:r>
              <a:rPr lang="en-US" sz="2400" dirty="0"/>
              <a:t>        store product in database</a:t>
            </a:r>
          </a:p>
          <a:p>
            <a:pPr marL="0" indent="0">
              <a:buNone/>
            </a:pPr>
            <a:r>
              <a:rPr lang="en-US" sz="2400" dirty="0"/>
              <a:t>    END FUNCTION</a:t>
            </a:r>
          </a:p>
          <a:p>
            <a:pPr marL="0" indent="0">
              <a:buNone/>
            </a:pPr>
            <a:r>
              <a:rPr lang="en-US" sz="2400" dirty="0"/>
              <a:t>END CLASS</a:t>
            </a:r>
            <a:endParaRPr lang="en-IN" sz="2400" dirty="0"/>
          </a:p>
          <a:p>
            <a:endParaRPr lang="en-IN" sz="2400" dirty="0"/>
          </a:p>
        </p:txBody>
      </p:sp>
    </p:spTree>
    <p:extLst>
      <p:ext uri="{BB962C8B-B14F-4D97-AF65-F5344CB8AC3E}">
        <p14:creationId xmlns:p14="http://schemas.microsoft.com/office/powerpoint/2010/main" val="911255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07A66-E936-ECA4-B9F4-AF13379EEBBC}"/>
              </a:ext>
            </a:extLst>
          </p:cNvPr>
          <p:cNvSpPr>
            <a:spLocks noGrp="1"/>
          </p:cNvSpPr>
          <p:nvPr>
            <p:ph type="title"/>
          </p:nvPr>
        </p:nvSpPr>
        <p:spPr>
          <a:xfrm>
            <a:off x="1141413" y="142568"/>
            <a:ext cx="9905998" cy="1447800"/>
          </a:xfrm>
        </p:spPr>
        <p:txBody>
          <a:bodyPr>
            <a:normAutofit/>
          </a:bodyPr>
          <a:lstStyle/>
          <a:p>
            <a:pPr algn="ctr"/>
            <a:r>
              <a:rPr lang="en-IN" sz="4400" b="1" dirty="0" err="1">
                <a:effectLst/>
              </a:rPr>
              <a:t>ProductService</a:t>
            </a:r>
            <a:r>
              <a:rPr lang="en-IN" sz="4400" b="1" dirty="0">
                <a:effectLst/>
              </a:rPr>
              <a:t> Class</a:t>
            </a:r>
            <a:endParaRPr lang="en-IN" sz="4400" b="1" dirty="0"/>
          </a:p>
        </p:txBody>
      </p:sp>
      <p:sp>
        <p:nvSpPr>
          <p:cNvPr id="3" name="Content Placeholder 2">
            <a:extLst>
              <a:ext uri="{FF2B5EF4-FFF2-40B4-BE49-F238E27FC236}">
                <a16:creationId xmlns:a16="http://schemas.microsoft.com/office/drawing/2014/main" id="{6E0D50E1-B0BF-85DE-9BEE-7962D947E8DB}"/>
              </a:ext>
            </a:extLst>
          </p:cNvPr>
          <p:cNvSpPr>
            <a:spLocks noGrp="1"/>
          </p:cNvSpPr>
          <p:nvPr>
            <p:ph idx="1"/>
          </p:nvPr>
        </p:nvSpPr>
        <p:spPr>
          <a:xfrm>
            <a:off x="1141413" y="1474839"/>
            <a:ext cx="9905998" cy="4984955"/>
          </a:xfrm>
        </p:spPr>
        <p:txBody>
          <a:bodyPr>
            <a:normAutofit fontScale="85000" lnSpcReduction="20000"/>
          </a:bodyPr>
          <a:lstStyle/>
          <a:p>
            <a:pPr marL="0" indent="0">
              <a:buNone/>
            </a:pPr>
            <a:r>
              <a:rPr lang="en-US" dirty="0"/>
              <a:t>CLASS </a:t>
            </a:r>
            <a:r>
              <a:rPr lang="en-US" dirty="0" err="1"/>
              <a:t>ProductService</a:t>
            </a:r>
            <a:endParaRPr lang="en-US" dirty="0"/>
          </a:p>
          <a:p>
            <a:pPr marL="0" indent="0">
              <a:buNone/>
            </a:pPr>
            <a:r>
              <a:rPr lang="en-US" dirty="0"/>
              <a:t>    ADD product</a:t>
            </a:r>
          </a:p>
          <a:p>
            <a:pPr marL="0" indent="0">
              <a:buNone/>
            </a:pPr>
            <a:r>
              <a:rPr lang="en-US" dirty="0"/>
              <a:t>        CALL </a:t>
            </a:r>
            <a:r>
              <a:rPr lang="en-US" dirty="0" err="1"/>
              <a:t>ProductRepository.save</a:t>
            </a:r>
            <a:r>
              <a:rPr lang="en-US" dirty="0"/>
              <a:t>()</a:t>
            </a:r>
          </a:p>
          <a:p>
            <a:pPr marL="0" indent="0">
              <a:buNone/>
            </a:pPr>
            <a:endParaRPr lang="en-US" dirty="0"/>
          </a:p>
          <a:p>
            <a:pPr marL="0" indent="0">
              <a:buNone/>
            </a:pPr>
            <a:r>
              <a:rPr lang="en-US" dirty="0"/>
              <a:t>    UPDATE stock</a:t>
            </a:r>
          </a:p>
          <a:p>
            <a:pPr marL="0" indent="0">
              <a:buNone/>
            </a:pPr>
            <a:r>
              <a:rPr lang="en-US" dirty="0"/>
              <a:t>        GET product from </a:t>
            </a:r>
            <a:r>
              <a:rPr lang="en-US" dirty="0" err="1"/>
              <a:t>ProductRepository</a:t>
            </a:r>
            <a:endParaRPr lang="en-US" dirty="0"/>
          </a:p>
          <a:p>
            <a:pPr marL="0" indent="0">
              <a:buNone/>
            </a:pPr>
            <a:r>
              <a:rPr lang="en-US" dirty="0"/>
              <a:t>        INCREASE or DECREASE </a:t>
            </a:r>
            <a:r>
              <a:rPr lang="en-US" dirty="0" err="1"/>
              <a:t>stockCount</a:t>
            </a:r>
            <a:endParaRPr lang="en-US" dirty="0"/>
          </a:p>
          <a:p>
            <a:pPr marL="0" indent="0">
              <a:buNone/>
            </a:pPr>
            <a:r>
              <a:rPr lang="en-US" dirty="0"/>
              <a:t>        CALL </a:t>
            </a:r>
            <a:r>
              <a:rPr lang="en-US" dirty="0" err="1"/>
              <a:t>ProductRepository.save</a:t>
            </a:r>
            <a:r>
              <a:rPr lang="en-US" dirty="0"/>
              <a:t>()</a:t>
            </a:r>
          </a:p>
          <a:p>
            <a:pPr marL="0" indent="0">
              <a:buNone/>
            </a:pPr>
            <a:endParaRPr lang="en-US" dirty="0"/>
          </a:p>
          <a:p>
            <a:pPr marL="0" indent="0">
              <a:buNone/>
            </a:pPr>
            <a:r>
              <a:rPr lang="en-US" dirty="0"/>
              <a:t>    CHECK stock alert</a:t>
            </a:r>
          </a:p>
          <a:p>
            <a:pPr marL="0" indent="0">
              <a:buNone/>
            </a:pPr>
            <a:r>
              <a:rPr lang="en-US" dirty="0"/>
              <a:t>        IF </a:t>
            </a:r>
            <a:r>
              <a:rPr lang="en-US" dirty="0" err="1"/>
              <a:t>stockCount</a:t>
            </a:r>
            <a:r>
              <a:rPr lang="en-US" dirty="0"/>
              <a:t> &lt; </a:t>
            </a:r>
            <a:r>
              <a:rPr lang="en-US" dirty="0" err="1"/>
              <a:t>minimumLevel</a:t>
            </a:r>
            <a:endParaRPr lang="en-US" dirty="0"/>
          </a:p>
          <a:p>
            <a:pPr marL="0" indent="0">
              <a:buNone/>
            </a:pPr>
            <a:r>
              <a:rPr lang="en-US" dirty="0"/>
              <a:t>            SHOW alert</a:t>
            </a:r>
          </a:p>
          <a:p>
            <a:pPr marL="0" indent="0">
              <a:buNone/>
            </a:pPr>
            <a:r>
              <a:rPr lang="en-US" dirty="0"/>
              <a:t>        END IF</a:t>
            </a:r>
          </a:p>
          <a:p>
            <a:pPr marL="0" indent="0">
              <a:buNone/>
            </a:pPr>
            <a:r>
              <a:rPr lang="en-US" dirty="0"/>
              <a:t>END CLASS</a:t>
            </a:r>
          </a:p>
          <a:p>
            <a:endParaRPr lang="en-IN" dirty="0"/>
          </a:p>
        </p:txBody>
      </p:sp>
    </p:spTree>
    <p:extLst>
      <p:ext uri="{BB962C8B-B14F-4D97-AF65-F5344CB8AC3E}">
        <p14:creationId xmlns:p14="http://schemas.microsoft.com/office/powerpoint/2010/main" val="628783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DE520-1970-BE64-A37E-8E562FB3054C}"/>
              </a:ext>
            </a:extLst>
          </p:cNvPr>
          <p:cNvSpPr>
            <a:spLocks noGrp="1"/>
          </p:cNvSpPr>
          <p:nvPr>
            <p:ph type="title"/>
          </p:nvPr>
        </p:nvSpPr>
        <p:spPr>
          <a:xfrm>
            <a:off x="1593698" y="147483"/>
            <a:ext cx="9905998" cy="1327355"/>
          </a:xfrm>
        </p:spPr>
        <p:txBody>
          <a:bodyPr>
            <a:normAutofit/>
          </a:bodyPr>
          <a:lstStyle/>
          <a:p>
            <a:r>
              <a:rPr lang="en-IN" sz="4800" b="1" dirty="0">
                <a:effectLst/>
              </a:rPr>
              <a:t>Product Management Flow</a:t>
            </a:r>
            <a:endParaRPr lang="en-IN" sz="4800" b="1" dirty="0"/>
          </a:p>
        </p:txBody>
      </p:sp>
      <p:sp>
        <p:nvSpPr>
          <p:cNvPr id="3" name="Content Placeholder 2">
            <a:extLst>
              <a:ext uri="{FF2B5EF4-FFF2-40B4-BE49-F238E27FC236}">
                <a16:creationId xmlns:a16="http://schemas.microsoft.com/office/drawing/2014/main" id="{D609CA1B-A7EE-97CB-43BE-AD70C04F6843}"/>
              </a:ext>
            </a:extLst>
          </p:cNvPr>
          <p:cNvSpPr>
            <a:spLocks noGrp="1"/>
          </p:cNvSpPr>
          <p:nvPr>
            <p:ph idx="1"/>
          </p:nvPr>
        </p:nvSpPr>
        <p:spPr>
          <a:xfrm>
            <a:off x="1141413" y="1691148"/>
            <a:ext cx="9905998" cy="4881717"/>
          </a:xfrm>
        </p:spPr>
        <p:txBody>
          <a:bodyPr>
            <a:normAutofit lnSpcReduction="10000"/>
          </a:bodyPr>
          <a:lstStyle/>
          <a:p>
            <a:pPr marL="0" indent="0" algn="ctr">
              <a:buNone/>
            </a:pPr>
            <a:r>
              <a:rPr lang="en-IN" dirty="0"/>
              <a:t>User / UI</a:t>
            </a:r>
          </a:p>
          <a:p>
            <a:pPr marL="0" indent="0" algn="ctr">
              <a:buNone/>
            </a:pPr>
            <a:r>
              <a:rPr lang="en-IN" dirty="0"/>
              <a:t>  ↓</a:t>
            </a:r>
          </a:p>
          <a:p>
            <a:pPr marL="0" indent="0" algn="ctr">
              <a:buNone/>
            </a:pPr>
            <a:r>
              <a:rPr lang="en-IN" dirty="0" err="1"/>
              <a:t>ProductController</a:t>
            </a:r>
            <a:endParaRPr lang="en-IN" dirty="0"/>
          </a:p>
          <a:p>
            <a:pPr marL="0" indent="0" algn="ctr">
              <a:buNone/>
            </a:pPr>
            <a:r>
              <a:rPr lang="en-IN" dirty="0"/>
              <a:t>   ↓</a:t>
            </a:r>
          </a:p>
          <a:p>
            <a:pPr marL="0" indent="0" algn="ctr">
              <a:buNone/>
            </a:pPr>
            <a:r>
              <a:rPr lang="en-IN" dirty="0" err="1"/>
              <a:t>ProductService</a:t>
            </a:r>
            <a:endParaRPr lang="en-IN" dirty="0"/>
          </a:p>
          <a:p>
            <a:pPr marL="0" indent="0" algn="ctr">
              <a:buNone/>
            </a:pPr>
            <a:r>
              <a:rPr lang="en-IN" dirty="0"/>
              <a:t>  ↓</a:t>
            </a:r>
          </a:p>
          <a:p>
            <a:pPr marL="0" indent="0" algn="ctr">
              <a:buNone/>
            </a:pPr>
            <a:r>
              <a:rPr lang="en-IN" dirty="0"/>
              <a:t>   ├─ Add Product → Check SKU → Save / Reject</a:t>
            </a:r>
          </a:p>
          <a:p>
            <a:pPr marL="0" indent="0" algn="ctr">
              <a:buNone/>
            </a:pPr>
            <a:r>
              <a:rPr lang="en-IN" dirty="0"/>
              <a:t>   ├─ Stock In → Update Stock → Log → Check Low Stock</a:t>
            </a:r>
          </a:p>
          <a:p>
            <a:pPr marL="0" indent="0" algn="ctr">
              <a:buNone/>
            </a:pPr>
            <a:r>
              <a:rPr lang="en-IN" dirty="0"/>
              <a:t>   └─ Stock Out → Check Stock → Update / Reject → Log → Check Low Stock</a:t>
            </a:r>
          </a:p>
          <a:p>
            <a:pPr marL="0" indent="0" algn="ctr">
              <a:buNone/>
            </a:pPr>
            <a:r>
              <a:rPr lang="en-IN" dirty="0"/>
              <a:t>    ↓</a:t>
            </a:r>
          </a:p>
          <a:p>
            <a:pPr marL="0" indent="0" algn="ctr">
              <a:buNone/>
            </a:pPr>
            <a:r>
              <a:rPr lang="en-IN" dirty="0" err="1"/>
              <a:t>ProductRepository</a:t>
            </a:r>
            <a:r>
              <a:rPr lang="en-IN" dirty="0"/>
              <a:t> → Database</a:t>
            </a:r>
          </a:p>
          <a:p>
            <a:pPr marL="0" indent="0">
              <a:buNone/>
            </a:pPr>
            <a:endParaRPr lang="en-IN" dirty="0"/>
          </a:p>
          <a:p>
            <a:endParaRPr lang="en-IN" dirty="0"/>
          </a:p>
        </p:txBody>
      </p:sp>
    </p:spTree>
    <p:extLst>
      <p:ext uri="{BB962C8B-B14F-4D97-AF65-F5344CB8AC3E}">
        <p14:creationId xmlns:p14="http://schemas.microsoft.com/office/powerpoint/2010/main" val="1419505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6F6D1-5B73-F63B-018E-A76EBEBFD3D2}"/>
              </a:ext>
            </a:extLst>
          </p:cNvPr>
          <p:cNvSpPr>
            <a:spLocks noGrp="1"/>
          </p:cNvSpPr>
          <p:nvPr>
            <p:ph type="title"/>
          </p:nvPr>
        </p:nvSpPr>
        <p:spPr>
          <a:xfrm>
            <a:off x="1143001" y="383458"/>
            <a:ext cx="9905998" cy="1288026"/>
          </a:xfrm>
        </p:spPr>
        <p:txBody>
          <a:bodyPr>
            <a:normAutofit/>
          </a:bodyPr>
          <a:lstStyle/>
          <a:p>
            <a:pPr algn="ctr"/>
            <a:r>
              <a:rPr lang="en-IN" sz="3400" b="1" dirty="0"/>
              <a:t>BENEFITS OF PRODUCT MANAGEMENT MODULE</a:t>
            </a:r>
            <a:endParaRPr lang="en-IN" sz="3400" dirty="0"/>
          </a:p>
        </p:txBody>
      </p:sp>
      <p:sp>
        <p:nvSpPr>
          <p:cNvPr id="3" name="Content Placeholder 2">
            <a:extLst>
              <a:ext uri="{FF2B5EF4-FFF2-40B4-BE49-F238E27FC236}">
                <a16:creationId xmlns:a16="http://schemas.microsoft.com/office/drawing/2014/main" id="{F0373637-0FF3-D7BC-26F1-E617BB619397}"/>
              </a:ext>
            </a:extLst>
          </p:cNvPr>
          <p:cNvSpPr>
            <a:spLocks noGrp="1"/>
          </p:cNvSpPr>
          <p:nvPr>
            <p:ph idx="1"/>
          </p:nvPr>
        </p:nvSpPr>
        <p:spPr>
          <a:xfrm>
            <a:off x="1141413" y="304800"/>
            <a:ext cx="9905998" cy="5584723"/>
          </a:xfrm>
        </p:spPr>
        <p:txBody>
          <a:bodyPr>
            <a:normAutofit/>
          </a:bodyPr>
          <a:lstStyle/>
          <a:p>
            <a:pPr>
              <a:buFont typeface="Wingdings" panose="05000000000000000000" pitchFamily="2" charset="2"/>
              <a:buChar char="§"/>
            </a:pPr>
            <a:r>
              <a:rPr lang="en-US" sz="2800" dirty="0"/>
              <a:t>Maintains accurate product and stock information</a:t>
            </a:r>
          </a:p>
          <a:p>
            <a:pPr>
              <a:buFont typeface="Wingdings" panose="05000000000000000000" pitchFamily="2" charset="2"/>
              <a:buChar char="§"/>
            </a:pPr>
            <a:r>
              <a:rPr lang="en-US" sz="2800" dirty="0"/>
              <a:t>Reduces chances of overstock and stock shortage</a:t>
            </a:r>
          </a:p>
          <a:p>
            <a:pPr>
              <a:buFont typeface="Wingdings" panose="05000000000000000000" pitchFamily="2" charset="2"/>
              <a:buChar char="§"/>
            </a:pPr>
            <a:r>
              <a:rPr lang="en-US" sz="2800" dirty="0"/>
              <a:t>Improves inventory tracking and control</a:t>
            </a:r>
          </a:p>
          <a:p>
            <a:pPr>
              <a:buFont typeface="Wingdings" panose="05000000000000000000" pitchFamily="2" charset="2"/>
              <a:buChar char="§"/>
            </a:pPr>
            <a:r>
              <a:rPr lang="en-US" sz="2800" dirty="0"/>
              <a:t>Saves time through automated stock updates</a:t>
            </a:r>
          </a:p>
          <a:p>
            <a:pPr>
              <a:buFont typeface="Wingdings" panose="05000000000000000000" pitchFamily="2" charset="2"/>
              <a:buChar char="§"/>
            </a:pPr>
            <a:r>
              <a:rPr lang="en-US" sz="2800" dirty="0"/>
              <a:t>Supports better business decision-making</a:t>
            </a:r>
            <a:endParaRPr lang="en-IN" sz="2800" dirty="0"/>
          </a:p>
        </p:txBody>
      </p:sp>
    </p:spTree>
    <p:extLst>
      <p:ext uri="{BB962C8B-B14F-4D97-AF65-F5344CB8AC3E}">
        <p14:creationId xmlns:p14="http://schemas.microsoft.com/office/powerpoint/2010/main" val="1467023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E0F9F-22D7-3B9E-28C5-DA849BB03929}"/>
              </a:ext>
            </a:extLst>
          </p:cNvPr>
          <p:cNvSpPr>
            <a:spLocks noGrp="1"/>
          </p:cNvSpPr>
          <p:nvPr>
            <p:ph type="title"/>
          </p:nvPr>
        </p:nvSpPr>
        <p:spPr>
          <a:xfrm>
            <a:off x="1141413" y="609600"/>
            <a:ext cx="9905998" cy="1170039"/>
          </a:xfrm>
        </p:spPr>
        <p:txBody>
          <a:bodyPr/>
          <a:lstStyle/>
          <a:p>
            <a:pPr algn="ctr"/>
            <a:r>
              <a:rPr lang="en-IN" b="1" dirty="0"/>
              <a:t>CONCLUSION – PRODUCT MANAGEMENT MODULE </a:t>
            </a:r>
            <a:endParaRPr lang="en-IN" dirty="0"/>
          </a:p>
        </p:txBody>
      </p:sp>
      <p:sp>
        <p:nvSpPr>
          <p:cNvPr id="3" name="Content Placeholder 2">
            <a:extLst>
              <a:ext uri="{FF2B5EF4-FFF2-40B4-BE49-F238E27FC236}">
                <a16:creationId xmlns:a16="http://schemas.microsoft.com/office/drawing/2014/main" id="{AF773117-06CA-25F1-2445-8940EBB056D1}"/>
              </a:ext>
            </a:extLst>
          </p:cNvPr>
          <p:cNvSpPr>
            <a:spLocks noGrp="1"/>
          </p:cNvSpPr>
          <p:nvPr>
            <p:ph idx="1"/>
          </p:nvPr>
        </p:nvSpPr>
        <p:spPr>
          <a:xfrm>
            <a:off x="1141413" y="816077"/>
            <a:ext cx="9905998" cy="4975123"/>
          </a:xfrm>
        </p:spPr>
        <p:txBody>
          <a:bodyPr/>
          <a:lstStyle/>
          <a:p>
            <a:pPr>
              <a:buFont typeface="Wingdings" panose="05000000000000000000" pitchFamily="2" charset="2"/>
              <a:buChar char="§"/>
            </a:pPr>
            <a:r>
              <a:rPr lang="en-US" sz="2800" dirty="0"/>
              <a:t>The Product Management System efficiently manages products and inventory by providing real-time stock monitoring, automated alerts, and secure access. It helps reduce errors, maintain optimal stock levels, and streamline operations, ultimately enhancing productivity and supporting business growth.</a:t>
            </a:r>
          </a:p>
          <a:p>
            <a:endParaRPr lang="en-IN" dirty="0"/>
          </a:p>
        </p:txBody>
      </p:sp>
    </p:spTree>
    <p:extLst>
      <p:ext uri="{BB962C8B-B14F-4D97-AF65-F5344CB8AC3E}">
        <p14:creationId xmlns:p14="http://schemas.microsoft.com/office/powerpoint/2010/main" val="4137026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0A5F1-7831-7521-3532-139AFE58BB5C}"/>
              </a:ext>
            </a:extLst>
          </p:cNvPr>
          <p:cNvSpPr>
            <a:spLocks noGrp="1"/>
          </p:cNvSpPr>
          <p:nvPr>
            <p:ph type="title"/>
          </p:nvPr>
        </p:nvSpPr>
        <p:spPr>
          <a:xfrm>
            <a:off x="1141413" y="1"/>
            <a:ext cx="9905998" cy="6508954"/>
          </a:xfrm>
        </p:spPr>
        <p:txBody>
          <a:bodyPr>
            <a:normAutofit/>
          </a:bodyPr>
          <a:lstStyle/>
          <a:p>
            <a:pPr algn="ctr"/>
            <a:r>
              <a:rPr lang="en-US" sz="5400" b="1" dirty="0"/>
              <a:t>MODULE 3</a:t>
            </a:r>
            <a:br>
              <a:rPr lang="en-US" sz="5400" b="1" dirty="0"/>
            </a:br>
            <a:r>
              <a:rPr lang="en-US" sz="5400" b="1" dirty="0"/>
              <a:t>ALERT MANAGEMENT SYSTEM</a:t>
            </a:r>
            <a:endParaRPr lang="en-IN" sz="5400" b="1" dirty="0"/>
          </a:p>
        </p:txBody>
      </p:sp>
    </p:spTree>
    <p:extLst>
      <p:ext uri="{BB962C8B-B14F-4D97-AF65-F5344CB8AC3E}">
        <p14:creationId xmlns:p14="http://schemas.microsoft.com/office/powerpoint/2010/main" val="1142427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99DAF-DCA9-5E1C-4F61-9505AA0330EE}"/>
              </a:ext>
            </a:extLst>
          </p:cNvPr>
          <p:cNvSpPr>
            <a:spLocks noGrp="1"/>
          </p:cNvSpPr>
          <p:nvPr>
            <p:ph type="title"/>
          </p:nvPr>
        </p:nvSpPr>
        <p:spPr>
          <a:xfrm>
            <a:off x="1141413" y="399435"/>
            <a:ext cx="9905998" cy="1334729"/>
          </a:xfrm>
        </p:spPr>
        <p:txBody>
          <a:bodyPr>
            <a:normAutofit/>
          </a:bodyPr>
          <a:lstStyle/>
          <a:p>
            <a:pPr algn="ctr"/>
            <a:r>
              <a:rPr lang="en-IN" sz="3400" b="1" dirty="0"/>
              <a:t>OVERVIEW OF ALERT MANAGEMENT MODULE</a:t>
            </a:r>
            <a:endParaRPr lang="en-IN" sz="3400" dirty="0"/>
          </a:p>
        </p:txBody>
      </p:sp>
      <p:sp>
        <p:nvSpPr>
          <p:cNvPr id="3" name="Content Placeholder 2">
            <a:extLst>
              <a:ext uri="{FF2B5EF4-FFF2-40B4-BE49-F238E27FC236}">
                <a16:creationId xmlns:a16="http://schemas.microsoft.com/office/drawing/2014/main" id="{ADB5D478-06BF-3101-38BA-FDDF5F975D4C}"/>
              </a:ext>
            </a:extLst>
          </p:cNvPr>
          <p:cNvSpPr>
            <a:spLocks noGrp="1"/>
          </p:cNvSpPr>
          <p:nvPr>
            <p:ph idx="1"/>
          </p:nvPr>
        </p:nvSpPr>
        <p:spPr>
          <a:xfrm>
            <a:off x="1141413" y="589935"/>
            <a:ext cx="9905998" cy="5555225"/>
          </a:xfrm>
        </p:spPr>
        <p:txBody>
          <a:bodyPr>
            <a:normAutofit/>
          </a:bodyPr>
          <a:lstStyle/>
          <a:p>
            <a:r>
              <a:rPr lang="en-US" sz="2600" dirty="0"/>
              <a:t>The Alert Management Module monitors inventory stock levels continuously.</a:t>
            </a:r>
          </a:p>
          <a:p>
            <a:r>
              <a:rPr lang="en-US" sz="2600" dirty="0"/>
              <a:t>It generates alerts when stock falls below the minimum level or exceeds the maximum limit.</a:t>
            </a:r>
          </a:p>
          <a:p>
            <a:r>
              <a:rPr lang="en-US" sz="2600" dirty="0"/>
              <a:t>This module notifies users to take immediate action such as restocking products.</a:t>
            </a:r>
          </a:p>
          <a:p>
            <a:r>
              <a:rPr lang="en-US" sz="2600" dirty="0"/>
              <a:t>It helps prevent stock shortages and avoids inventory-related issues.</a:t>
            </a:r>
            <a:endParaRPr lang="en-IN" sz="2600" dirty="0"/>
          </a:p>
        </p:txBody>
      </p:sp>
    </p:spTree>
    <p:extLst>
      <p:ext uri="{BB962C8B-B14F-4D97-AF65-F5344CB8AC3E}">
        <p14:creationId xmlns:p14="http://schemas.microsoft.com/office/powerpoint/2010/main" val="1793236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C79B2-7D99-6AFA-9E9F-435EAF5F53BE}"/>
              </a:ext>
            </a:extLst>
          </p:cNvPr>
          <p:cNvSpPr>
            <a:spLocks noGrp="1"/>
          </p:cNvSpPr>
          <p:nvPr>
            <p:ph type="title"/>
          </p:nvPr>
        </p:nvSpPr>
        <p:spPr>
          <a:xfrm>
            <a:off x="1062755" y="0"/>
            <a:ext cx="9905998" cy="1091381"/>
          </a:xfrm>
        </p:spPr>
        <p:txBody>
          <a:bodyPr>
            <a:normAutofit/>
          </a:bodyPr>
          <a:lstStyle/>
          <a:p>
            <a:pPr algn="ctr"/>
            <a:r>
              <a:rPr lang="en-IN" sz="3400" b="1" dirty="0">
                <a:effectLst/>
              </a:rPr>
              <a:t>Key Classes – ALERT MANAGEMENT MODULE</a:t>
            </a:r>
            <a:endParaRPr lang="en-IN" sz="3400" dirty="0"/>
          </a:p>
        </p:txBody>
      </p:sp>
      <p:sp>
        <p:nvSpPr>
          <p:cNvPr id="3" name="Content Placeholder 2">
            <a:extLst>
              <a:ext uri="{FF2B5EF4-FFF2-40B4-BE49-F238E27FC236}">
                <a16:creationId xmlns:a16="http://schemas.microsoft.com/office/drawing/2014/main" id="{DB5514D1-7FDE-B06B-BC48-99412637FB13}"/>
              </a:ext>
            </a:extLst>
          </p:cNvPr>
          <p:cNvSpPr>
            <a:spLocks noGrp="1"/>
          </p:cNvSpPr>
          <p:nvPr>
            <p:ph idx="1"/>
          </p:nvPr>
        </p:nvSpPr>
        <p:spPr>
          <a:xfrm>
            <a:off x="1223247" y="373626"/>
            <a:ext cx="9905998" cy="6184489"/>
          </a:xfrm>
        </p:spPr>
        <p:txBody>
          <a:bodyPr>
            <a:noAutofit/>
          </a:bodyPr>
          <a:lstStyle/>
          <a:p>
            <a:pPr marL="0" indent="0">
              <a:buNone/>
            </a:pPr>
            <a:r>
              <a:rPr lang="en-US" b="1" dirty="0"/>
              <a:t>Alert</a:t>
            </a:r>
          </a:p>
          <a:p>
            <a:pPr>
              <a:buFont typeface="Wingdings" panose="05000000000000000000" pitchFamily="2" charset="2"/>
              <a:buChar char="§"/>
            </a:pPr>
            <a:r>
              <a:rPr lang="en-US" sz="1800" dirty="0"/>
              <a:t>Stores alert type, message, and status</a:t>
            </a:r>
          </a:p>
          <a:p>
            <a:pPr>
              <a:buFont typeface="Wingdings" panose="05000000000000000000" pitchFamily="2" charset="2"/>
              <a:buChar char="§"/>
            </a:pPr>
            <a:r>
              <a:rPr lang="en-US" sz="1800" dirty="0"/>
              <a:t>Represents alerts generated by the system</a:t>
            </a:r>
          </a:p>
          <a:p>
            <a:pPr marL="0" indent="0">
              <a:buNone/>
            </a:pPr>
            <a:r>
              <a:rPr lang="en-US" b="1" dirty="0" err="1"/>
              <a:t>AlertController</a:t>
            </a:r>
            <a:endParaRPr lang="en-US" b="1" dirty="0"/>
          </a:p>
          <a:p>
            <a:pPr>
              <a:buFont typeface="Wingdings" panose="05000000000000000000" pitchFamily="2" charset="2"/>
              <a:buChar char="§"/>
            </a:pPr>
            <a:r>
              <a:rPr lang="en-US" sz="1800" dirty="0"/>
              <a:t>Receives alert-related requests</a:t>
            </a:r>
          </a:p>
          <a:p>
            <a:pPr>
              <a:buFont typeface="Wingdings" panose="05000000000000000000" pitchFamily="2" charset="2"/>
              <a:buChar char="§"/>
            </a:pPr>
            <a:r>
              <a:rPr lang="en-US" sz="1800" dirty="0"/>
              <a:t>Triggers alert operations through service layer</a:t>
            </a:r>
          </a:p>
          <a:p>
            <a:pPr marL="0" indent="0">
              <a:buNone/>
            </a:pPr>
            <a:r>
              <a:rPr lang="en-US" b="1" dirty="0" err="1"/>
              <a:t>AlertService</a:t>
            </a:r>
            <a:endParaRPr lang="en-US" b="1" dirty="0"/>
          </a:p>
          <a:p>
            <a:pPr>
              <a:buFont typeface="Wingdings" panose="05000000000000000000" pitchFamily="2" charset="2"/>
              <a:buChar char="§"/>
            </a:pPr>
            <a:r>
              <a:rPr lang="en-US" sz="1800" dirty="0"/>
              <a:t>Checks product stock levels</a:t>
            </a:r>
          </a:p>
          <a:p>
            <a:pPr>
              <a:buFont typeface="Wingdings" panose="05000000000000000000" pitchFamily="2" charset="2"/>
              <a:buChar char="§"/>
            </a:pPr>
            <a:r>
              <a:rPr lang="en-US" sz="1800" dirty="0"/>
              <a:t>Generates alerts for low or high stock</a:t>
            </a:r>
          </a:p>
          <a:p>
            <a:pPr marL="0" indent="0">
              <a:buNone/>
            </a:pPr>
            <a:r>
              <a:rPr lang="en-US" b="1" dirty="0" err="1"/>
              <a:t>AlertRepository</a:t>
            </a:r>
            <a:endParaRPr lang="en-US" b="1" dirty="0"/>
          </a:p>
          <a:p>
            <a:pPr>
              <a:buFont typeface="Wingdings" panose="05000000000000000000" pitchFamily="2" charset="2"/>
              <a:buChar char="§"/>
            </a:pPr>
            <a:r>
              <a:rPr lang="en-US" sz="1800" dirty="0"/>
              <a:t>Saves alert details in the database</a:t>
            </a:r>
          </a:p>
          <a:p>
            <a:pPr>
              <a:buFont typeface="Wingdings" panose="05000000000000000000" pitchFamily="2" charset="2"/>
              <a:buChar char="§"/>
            </a:pPr>
            <a:r>
              <a:rPr lang="en-US" sz="1800" dirty="0"/>
              <a:t>Retrieves alert records when required</a:t>
            </a:r>
          </a:p>
        </p:txBody>
      </p:sp>
    </p:spTree>
    <p:extLst>
      <p:ext uri="{BB962C8B-B14F-4D97-AF65-F5344CB8AC3E}">
        <p14:creationId xmlns:p14="http://schemas.microsoft.com/office/powerpoint/2010/main" val="1871055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567BC-EBDE-6D84-2F23-4FBF68DA32E2}"/>
              </a:ext>
            </a:extLst>
          </p:cNvPr>
          <p:cNvSpPr>
            <a:spLocks noGrp="1"/>
          </p:cNvSpPr>
          <p:nvPr>
            <p:ph type="title"/>
          </p:nvPr>
        </p:nvSpPr>
        <p:spPr>
          <a:xfrm>
            <a:off x="1143001" y="294968"/>
            <a:ext cx="9905998" cy="1140542"/>
          </a:xfrm>
        </p:spPr>
        <p:txBody>
          <a:bodyPr>
            <a:normAutofit/>
          </a:bodyPr>
          <a:lstStyle/>
          <a:p>
            <a:pPr algn="ctr"/>
            <a:r>
              <a:rPr lang="en-IN" sz="3600" b="1" dirty="0">
                <a:effectLst/>
              </a:rPr>
              <a:t>INVENTORY ALERTS MODULE – PSEUDO CODE</a:t>
            </a:r>
            <a:endParaRPr lang="en-IN" sz="3600" dirty="0"/>
          </a:p>
        </p:txBody>
      </p:sp>
      <p:sp>
        <p:nvSpPr>
          <p:cNvPr id="3" name="Content Placeholder 2">
            <a:extLst>
              <a:ext uri="{FF2B5EF4-FFF2-40B4-BE49-F238E27FC236}">
                <a16:creationId xmlns:a16="http://schemas.microsoft.com/office/drawing/2014/main" id="{545CFF2B-845F-167A-438A-83E9C16AA851}"/>
              </a:ext>
            </a:extLst>
          </p:cNvPr>
          <p:cNvSpPr>
            <a:spLocks noGrp="1"/>
          </p:cNvSpPr>
          <p:nvPr>
            <p:ph idx="1"/>
          </p:nvPr>
        </p:nvSpPr>
        <p:spPr>
          <a:xfrm>
            <a:off x="1259400" y="1327355"/>
            <a:ext cx="9905998" cy="4994787"/>
          </a:xfrm>
        </p:spPr>
        <p:txBody>
          <a:bodyPr>
            <a:normAutofit/>
          </a:bodyPr>
          <a:lstStyle/>
          <a:p>
            <a:pPr marL="0" indent="0">
              <a:buNone/>
            </a:pPr>
            <a:r>
              <a:rPr lang="en-IN" sz="2200" b="1" dirty="0" err="1">
                <a:effectLst/>
              </a:rPr>
              <a:t>AlertService</a:t>
            </a:r>
            <a:r>
              <a:rPr lang="en-IN" sz="2200" b="1" dirty="0">
                <a:effectLst/>
              </a:rPr>
              <a:t> Class</a:t>
            </a:r>
          </a:p>
          <a:p>
            <a:pPr marL="0" indent="0">
              <a:buNone/>
            </a:pPr>
            <a:r>
              <a:rPr lang="en-IN" sz="2200" b="1" dirty="0">
                <a:effectLst/>
              </a:rPr>
              <a:t>Pseudocode</a:t>
            </a:r>
            <a:endParaRPr lang="en-IN" sz="2200" dirty="0">
              <a:effectLst/>
            </a:endParaRPr>
          </a:p>
          <a:p>
            <a:pPr marL="0" indent="0">
              <a:buNone/>
            </a:pPr>
            <a:r>
              <a:rPr lang="en-IN" sz="1600" dirty="0">
                <a:effectLst/>
              </a:rPr>
              <a:t>CLASS </a:t>
            </a:r>
            <a:r>
              <a:rPr lang="en-IN" sz="1600" dirty="0" err="1">
                <a:effectLst/>
              </a:rPr>
              <a:t>AlertService</a:t>
            </a:r>
            <a:endParaRPr lang="en-IN" sz="1600" dirty="0">
              <a:effectLst/>
            </a:endParaRPr>
          </a:p>
          <a:p>
            <a:pPr marL="0" indent="0">
              <a:buNone/>
            </a:pPr>
            <a:r>
              <a:rPr lang="en-IN" sz="1600" dirty="0">
                <a:effectLst/>
              </a:rPr>
              <a:t>    FUNCTION </a:t>
            </a:r>
            <a:r>
              <a:rPr lang="en-IN" sz="1600" dirty="0" err="1">
                <a:effectLst/>
              </a:rPr>
              <a:t>checkLowStock</a:t>
            </a:r>
            <a:r>
              <a:rPr lang="en-IN" sz="1600" dirty="0">
                <a:effectLst/>
              </a:rPr>
              <a:t>(product)</a:t>
            </a:r>
          </a:p>
          <a:p>
            <a:pPr marL="0" indent="0">
              <a:buNone/>
            </a:pPr>
            <a:r>
              <a:rPr lang="en-IN" sz="1600" dirty="0">
                <a:effectLst/>
              </a:rPr>
              <a:t>        IF </a:t>
            </a:r>
            <a:r>
              <a:rPr lang="en-IN" sz="1600" dirty="0" err="1">
                <a:effectLst/>
              </a:rPr>
              <a:t>product.stock</a:t>
            </a:r>
            <a:r>
              <a:rPr lang="en-IN" sz="1600" dirty="0">
                <a:effectLst/>
              </a:rPr>
              <a:t> &lt; </a:t>
            </a:r>
            <a:r>
              <a:rPr lang="en-IN" sz="1600" dirty="0" err="1">
                <a:effectLst/>
              </a:rPr>
              <a:t>product.minStockLevel</a:t>
            </a:r>
            <a:r>
              <a:rPr lang="en-IN" sz="1600" dirty="0">
                <a:effectLst/>
              </a:rPr>
              <a:t> THEN</a:t>
            </a:r>
          </a:p>
          <a:p>
            <a:pPr marL="0" indent="0">
              <a:buNone/>
            </a:pPr>
            <a:r>
              <a:rPr lang="en-IN" sz="1600" dirty="0">
                <a:effectLst/>
              </a:rPr>
              <a:t>            </a:t>
            </a:r>
            <a:r>
              <a:rPr lang="en-IN" sz="1600" dirty="0" err="1">
                <a:effectLst/>
              </a:rPr>
              <a:t>NotificationService.sendAlert</a:t>
            </a:r>
            <a:r>
              <a:rPr lang="en-IN" sz="1600" dirty="0">
                <a:effectLst/>
              </a:rPr>
              <a:t>(product)</a:t>
            </a:r>
          </a:p>
          <a:p>
            <a:pPr marL="0" indent="0">
              <a:buNone/>
            </a:pPr>
            <a:r>
              <a:rPr lang="en-IN" sz="1600" dirty="0">
                <a:effectLst/>
              </a:rPr>
              <a:t>        END IF</a:t>
            </a:r>
          </a:p>
          <a:p>
            <a:pPr marL="0" indent="0">
              <a:buNone/>
            </a:pPr>
            <a:r>
              <a:rPr lang="en-IN" sz="1600" dirty="0">
                <a:effectLst/>
              </a:rPr>
              <a:t>    END FUNCTION</a:t>
            </a:r>
          </a:p>
          <a:p>
            <a:pPr marL="0" indent="0">
              <a:buNone/>
            </a:pPr>
            <a:r>
              <a:rPr lang="en-IN" sz="1600" dirty="0">
                <a:effectLst/>
              </a:rPr>
              <a:t>END CLASS</a:t>
            </a:r>
          </a:p>
          <a:p>
            <a:pPr marL="0" indent="0">
              <a:buNone/>
            </a:pPr>
            <a:r>
              <a:rPr lang="en-IN" b="1" dirty="0">
                <a:effectLst/>
              </a:rPr>
              <a:t>Explanation</a:t>
            </a:r>
            <a:endParaRPr lang="en-IN" dirty="0">
              <a:effectLst/>
            </a:endParaRPr>
          </a:p>
          <a:p>
            <a:pPr>
              <a:buFont typeface="Wingdings" panose="05000000000000000000" pitchFamily="2" charset="2"/>
              <a:buChar char="§"/>
            </a:pPr>
            <a:r>
              <a:rPr lang="en-IN" sz="1600" dirty="0">
                <a:effectLst/>
              </a:rPr>
              <a:t>Automatically triggered after stock change</a:t>
            </a:r>
          </a:p>
          <a:p>
            <a:pPr>
              <a:buFont typeface="Wingdings" panose="05000000000000000000" pitchFamily="2" charset="2"/>
              <a:buChar char="§"/>
            </a:pPr>
            <a:r>
              <a:rPr lang="en-IN" sz="1600" dirty="0">
                <a:effectLst/>
              </a:rPr>
              <a:t>Works silently in background</a:t>
            </a:r>
          </a:p>
        </p:txBody>
      </p:sp>
    </p:spTree>
    <p:extLst>
      <p:ext uri="{BB962C8B-B14F-4D97-AF65-F5344CB8AC3E}">
        <p14:creationId xmlns:p14="http://schemas.microsoft.com/office/powerpoint/2010/main" val="2641216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93697-0D94-81AA-AFA8-9135D05EB8F3}"/>
              </a:ext>
            </a:extLst>
          </p:cNvPr>
          <p:cNvSpPr>
            <a:spLocks noGrp="1"/>
          </p:cNvSpPr>
          <p:nvPr>
            <p:ph type="title"/>
          </p:nvPr>
        </p:nvSpPr>
        <p:spPr>
          <a:xfrm>
            <a:off x="1141413" y="265471"/>
            <a:ext cx="9905998" cy="963561"/>
          </a:xfrm>
        </p:spPr>
        <p:txBody>
          <a:bodyPr/>
          <a:lstStyle/>
          <a:p>
            <a:pPr algn="ctr"/>
            <a:r>
              <a:rPr lang="en-IN" b="1" dirty="0">
                <a:effectLst/>
              </a:rPr>
              <a:t>INVENTORY ALERTS MODULE – PSEUDO CODE</a:t>
            </a:r>
            <a:endParaRPr lang="en-IN" dirty="0"/>
          </a:p>
        </p:txBody>
      </p:sp>
      <p:sp>
        <p:nvSpPr>
          <p:cNvPr id="3" name="Content Placeholder 2">
            <a:extLst>
              <a:ext uri="{FF2B5EF4-FFF2-40B4-BE49-F238E27FC236}">
                <a16:creationId xmlns:a16="http://schemas.microsoft.com/office/drawing/2014/main" id="{72E1774B-DB6D-72B5-8907-C9396344C170}"/>
              </a:ext>
            </a:extLst>
          </p:cNvPr>
          <p:cNvSpPr>
            <a:spLocks noGrp="1"/>
          </p:cNvSpPr>
          <p:nvPr>
            <p:ph idx="1"/>
          </p:nvPr>
        </p:nvSpPr>
        <p:spPr>
          <a:xfrm>
            <a:off x="1052922" y="703006"/>
            <a:ext cx="9905998" cy="5889523"/>
          </a:xfrm>
        </p:spPr>
        <p:txBody>
          <a:bodyPr/>
          <a:lstStyle/>
          <a:p>
            <a:pPr marL="0" indent="0">
              <a:buNone/>
            </a:pPr>
            <a:r>
              <a:rPr lang="en-US" b="1" dirty="0" err="1">
                <a:effectLst/>
              </a:rPr>
              <a:t>NotificationService</a:t>
            </a:r>
            <a:r>
              <a:rPr lang="en-US" b="1" dirty="0">
                <a:effectLst/>
              </a:rPr>
              <a:t> Class</a:t>
            </a:r>
            <a:endParaRPr lang="en-US" dirty="0">
              <a:effectLst/>
            </a:endParaRPr>
          </a:p>
          <a:p>
            <a:pPr marL="0" indent="0">
              <a:buNone/>
            </a:pPr>
            <a:r>
              <a:rPr lang="en-US" b="1" dirty="0">
                <a:effectLst/>
              </a:rPr>
              <a:t>Pseudocode</a:t>
            </a:r>
            <a:endParaRPr lang="en-US" dirty="0">
              <a:effectLst/>
            </a:endParaRPr>
          </a:p>
          <a:p>
            <a:pPr marL="0" indent="0">
              <a:buNone/>
            </a:pPr>
            <a:r>
              <a:rPr lang="en-US" sz="1800" dirty="0">
                <a:effectLst/>
              </a:rPr>
              <a:t>CLASS </a:t>
            </a:r>
            <a:r>
              <a:rPr lang="en-US" sz="1800" dirty="0" err="1">
                <a:effectLst/>
              </a:rPr>
              <a:t>NotificationService</a:t>
            </a:r>
            <a:endParaRPr lang="en-US" sz="1800" dirty="0">
              <a:effectLst/>
            </a:endParaRPr>
          </a:p>
          <a:p>
            <a:pPr marL="0" indent="0">
              <a:buNone/>
            </a:pPr>
            <a:r>
              <a:rPr lang="en-US" sz="1800" dirty="0">
                <a:effectLst/>
              </a:rPr>
              <a:t>FUNCTION </a:t>
            </a:r>
            <a:r>
              <a:rPr lang="en-US" sz="1800" dirty="0" err="1">
                <a:effectLst/>
              </a:rPr>
              <a:t>sendAlert</a:t>
            </a:r>
            <a:r>
              <a:rPr lang="en-US" sz="1800" dirty="0">
                <a:effectLst/>
              </a:rPr>
              <a:t>(product)</a:t>
            </a:r>
          </a:p>
          <a:p>
            <a:pPr marL="0" indent="0">
              <a:buNone/>
            </a:pPr>
            <a:r>
              <a:rPr lang="en-US" sz="1800" dirty="0">
                <a:effectLst/>
              </a:rPr>
              <a:t>show dashboard alert</a:t>
            </a:r>
          </a:p>
          <a:p>
            <a:pPr marL="0" indent="0">
              <a:buNone/>
            </a:pPr>
            <a:r>
              <a:rPr lang="en-US" sz="1800" dirty="0">
                <a:effectLst/>
              </a:rPr>
              <a:t>send email or SMS</a:t>
            </a:r>
          </a:p>
          <a:p>
            <a:pPr marL="0" indent="0">
              <a:buNone/>
            </a:pPr>
            <a:r>
              <a:rPr lang="en-US" sz="1800" dirty="0">
                <a:effectLst/>
              </a:rPr>
              <a:t>END FUNCTION</a:t>
            </a:r>
          </a:p>
          <a:p>
            <a:pPr marL="0" indent="0">
              <a:buNone/>
            </a:pPr>
            <a:r>
              <a:rPr lang="en-US" sz="1800" dirty="0">
                <a:effectLst/>
              </a:rPr>
              <a:t>END CLASS </a:t>
            </a:r>
          </a:p>
          <a:p>
            <a:pPr marL="0" indent="0">
              <a:buNone/>
            </a:pPr>
            <a:r>
              <a:rPr lang="en-US" b="1" dirty="0">
                <a:effectLst/>
              </a:rPr>
              <a:t>Explanation</a:t>
            </a:r>
            <a:endParaRPr lang="en-US" dirty="0">
              <a:effectLst/>
            </a:endParaRPr>
          </a:p>
          <a:p>
            <a:pPr>
              <a:buFont typeface="Wingdings" panose="05000000000000000000" pitchFamily="2" charset="2"/>
              <a:buChar char="§"/>
            </a:pPr>
            <a:r>
              <a:rPr lang="en-US" sz="1800" dirty="0">
                <a:effectLst/>
              </a:rPr>
              <a:t>Uses communication channels</a:t>
            </a:r>
          </a:p>
          <a:p>
            <a:pPr>
              <a:buFont typeface="Wingdings" panose="05000000000000000000" pitchFamily="2" charset="2"/>
              <a:buChar char="§"/>
            </a:pPr>
            <a:r>
              <a:rPr lang="en-US" sz="1800" dirty="0">
                <a:effectLst/>
              </a:rPr>
              <a:t>Improves operational efficiency</a:t>
            </a:r>
          </a:p>
          <a:p>
            <a:endParaRPr lang="en-IN" dirty="0"/>
          </a:p>
        </p:txBody>
      </p:sp>
    </p:spTree>
    <p:extLst>
      <p:ext uri="{BB962C8B-B14F-4D97-AF65-F5344CB8AC3E}">
        <p14:creationId xmlns:p14="http://schemas.microsoft.com/office/powerpoint/2010/main" val="28745555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A2277-C2B7-AD27-883D-87FF10E65EE5}"/>
              </a:ext>
            </a:extLst>
          </p:cNvPr>
          <p:cNvSpPr>
            <a:spLocks noGrp="1"/>
          </p:cNvSpPr>
          <p:nvPr>
            <p:ph type="title"/>
          </p:nvPr>
        </p:nvSpPr>
        <p:spPr>
          <a:xfrm>
            <a:off x="1141413" y="462116"/>
            <a:ext cx="9905998" cy="1012723"/>
          </a:xfrm>
        </p:spPr>
        <p:txBody>
          <a:bodyPr>
            <a:normAutofit/>
          </a:bodyPr>
          <a:lstStyle/>
          <a:p>
            <a:pPr algn="ctr"/>
            <a:r>
              <a:rPr lang="en-IN" sz="4000" b="1" dirty="0">
                <a:effectLst/>
              </a:rPr>
              <a:t>ALERT Management SYSTEM Flow</a:t>
            </a:r>
            <a:endParaRPr lang="en-IN" sz="4000" dirty="0"/>
          </a:p>
        </p:txBody>
      </p:sp>
      <p:sp>
        <p:nvSpPr>
          <p:cNvPr id="3" name="Content Placeholder 2">
            <a:extLst>
              <a:ext uri="{FF2B5EF4-FFF2-40B4-BE49-F238E27FC236}">
                <a16:creationId xmlns:a16="http://schemas.microsoft.com/office/drawing/2014/main" id="{91A3F485-F6A2-33CC-BA6D-CA841F8F7E47}"/>
              </a:ext>
            </a:extLst>
          </p:cNvPr>
          <p:cNvSpPr>
            <a:spLocks noGrp="1"/>
          </p:cNvSpPr>
          <p:nvPr>
            <p:ph idx="1"/>
          </p:nvPr>
        </p:nvSpPr>
        <p:spPr>
          <a:xfrm>
            <a:off x="1141413" y="1474839"/>
            <a:ext cx="9905998" cy="5024284"/>
          </a:xfrm>
        </p:spPr>
        <p:txBody>
          <a:bodyPr>
            <a:normAutofit/>
          </a:bodyPr>
          <a:lstStyle/>
          <a:p>
            <a:pPr marL="0" indent="0" algn="ctr">
              <a:buNone/>
            </a:pPr>
            <a:r>
              <a:rPr lang="en-IN" sz="2400" dirty="0"/>
              <a:t>Start</a:t>
            </a:r>
            <a:br>
              <a:rPr lang="en-IN" sz="2400" dirty="0"/>
            </a:br>
            <a:r>
              <a:rPr lang="en-IN" sz="2400" dirty="0"/>
              <a:t>↓</a:t>
            </a:r>
            <a:br>
              <a:rPr lang="en-IN" sz="2400" dirty="0"/>
            </a:br>
            <a:r>
              <a:rPr lang="en-IN" sz="2400" dirty="0"/>
              <a:t>Product stock is updated</a:t>
            </a:r>
            <a:br>
              <a:rPr lang="en-IN" sz="2400" dirty="0"/>
            </a:br>
            <a:r>
              <a:rPr lang="en-IN" sz="2400" dirty="0"/>
              <a:t>↓</a:t>
            </a:r>
            <a:br>
              <a:rPr lang="en-IN" sz="2400" dirty="0"/>
            </a:br>
            <a:r>
              <a:rPr lang="en-IN" sz="2400" dirty="0" err="1"/>
              <a:t>AlertService</a:t>
            </a:r>
            <a:r>
              <a:rPr lang="en-IN" sz="2400" dirty="0"/>
              <a:t> checks stock level</a:t>
            </a:r>
            <a:br>
              <a:rPr lang="en-IN" sz="2400" dirty="0"/>
            </a:br>
            <a:r>
              <a:rPr lang="en-IN" sz="2400" dirty="0"/>
              <a:t>↓</a:t>
            </a:r>
            <a:br>
              <a:rPr lang="en-IN" sz="2400" dirty="0"/>
            </a:br>
            <a:r>
              <a:rPr lang="en-IN" sz="2400" dirty="0"/>
              <a:t>Is stock below minimum limit?</a:t>
            </a:r>
            <a:br>
              <a:rPr lang="en-IN" sz="2400" dirty="0"/>
            </a:br>
            <a:r>
              <a:rPr lang="en-IN" sz="2400" dirty="0"/>
              <a:t>↓</a:t>
            </a:r>
            <a:br>
              <a:rPr lang="en-IN" sz="2400" dirty="0"/>
            </a:br>
            <a:r>
              <a:rPr lang="en-IN" sz="2400" dirty="0"/>
              <a:t>Yes → </a:t>
            </a:r>
            <a:r>
              <a:rPr lang="en-IN" sz="2400" dirty="0" err="1"/>
              <a:t>NotificationService</a:t>
            </a:r>
            <a:r>
              <a:rPr lang="en-IN" sz="2400" dirty="0"/>
              <a:t> sends alert</a:t>
            </a:r>
            <a:br>
              <a:rPr lang="en-IN" sz="2400" dirty="0"/>
            </a:br>
            <a:r>
              <a:rPr lang="en-IN" sz="2400" dirty="0"/>
              <a:t>↓</a:t>
            </a:r>
            <a:br>
              <a:rPr lang="en-IN" sz="2400" dirty="0"/>
            </a:br>
            <a:r>
              <a:rPr lang="en-IN" sz="2400" dirty="0"/>
              <a:t>Alert shown on dashboard / Email / SMS sent</a:t>
            </a:r>
            <a:br>
              <a:rPr lang="en-IN" sz="2400" dirty="0"/>
            </a:br>
            <a:r>
              <a:rPr lang="en-IN" sz="2400" dirty="0"/>
              <a:t>↓</a:t>
            </a:r>
            <a:br>
              <a:rPr lang="en-IN" sz="2400" dirty="0"/>
            </a:br>
            <a:r>
              <a:rPr lang="en-IN" sz="2400" dirty="0"/>
              <a:t>End</a:t>
            </a:r>
          </a:p>
        </p:txBody>
      </p:sp>
    </p:spTree>
    <p:extLst>
      <p:ext uri="{BB962C8B-B14F-4D97-AF65-F5344CB8AC3E}">
        <p14:creationId xmlns:p14="http://schemas.microsoft.com/office/powerpoint/2010/main" val="20576681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63A96-6370-973E-B35B-DBF5F347FA7F}"/>
              </a:ext>
            </a:extLst>
          </p:cNvPr>
          <p:cNvSpPr>
            <a:spLocks noGrp="1"/>
          </p:cNvSpPr>
          <p:nvPr>
            <p:ph type="title"/>
          </p:nvPr>
        </p:nvSpPr>
        <p:spPr>
          <a:xfrm>
            <a:off x="1143001" y="353962"/>
            <a:ext cx="9905998" cy="1209368"/>
          </a:xfrm>
        </p:spPr>
        <p:txBody>
          <a:bodyPr>
            <a:normAutofit/>
          </a:bodyPr>
          <a:lstStyle/>
          <a:p>
            <a:pPr algn="ctr"/>
            <a:r>
              <a:rPr lang="en-IN" sz="3600" b="1" dirty="0"/>
              <a:t>BENEFITS OF ALERT MANAGEMENT MODULE</a:t>
            </a:r>
            <a:endParaRPr lang="en-IN" sz="3600" dirty="0"/>
          </a:p>
        </p:txBody>
      </p:sp>
      <p:sp>
        <p:nvSpPr>
          <p:cNvPr id="3" name="Content Placeholder 2">
            <a:extLst>
              <a:ext uri="{FF2B5EF4-FFF2-40B4-BE49-F238E27FC236}">
                <a16:creationId xmlns:a16="http://schemas.microsoft.com/office/drawing/2014/main" id="{FDE1E8E8-F13E-4A03-69B9-F11CBAF202C7}"/>
              </a:ext>
            </a:extLst>
          </p:cNvPr>
          <p:cNvSpPr>
            <a:spLocks noGrp="1"/>
          </p:cNvSpPr>
          <p:nvPr>
            <p:ph idx="1"/>
          </p:nvPr>
        </p:nvSpPr>
        <p:spPr>
          <a:xfrm>
            <a:off x="1141413" y="353962"/>
            <a:ext cx="9905998" cy="5437239"/>
          </a:xfrm>
        </p:spPr>
        <p:txBody>
          <a:bodyPr>
            <a:normAutofit/>
          </a:bodyPr>
          <a:lstStyle/>
          <a:p>
            <a:pPr>
              <a:buFont typeface="Wingdings" panose="05000000000000000000" pitchFamily="2" charset="2"/>
              <a:buChar char="§"/>
            </a:pPr>
            <a:r>
              <a:rPr lang="en-US" sz="2800" dirty="0"/>
              <a:t>Prevents stockouts with proactive alerts</a:t>
            </a:r>
          </a:p>
          <a:p>
            <a:pPr>
              <a:buFont typeface="Wingdings" panose="05000000000000000000" pitchFamily="2" charset="2"/>
              <a:buChar char="§"/>
            </a:pPr>
            <a:r>
              <a:rPr lang="en-US" sz="2800" dirty="0"/>
              <a:t>Sends instant notifications (dashboard, email, SMS)</a:t>
            </a:r>
          </a:p>
          <a:p>
            <a:pPr>
              <a:buFont typeface="Wingdings" panose="05000000000000000000" pitchFamily="2" charset="2"/>
              <a:buChar char="§"/>
            </a:pPr>
            <a:r>
              <a:rPr lang="en-US" sz="2800" dirty="0"/>
              <a:t>Reduces manual monitoring and improves efficiency</a:t>
            </a:r>
          </a:p>
          <a:p>
            <a:pPr>
              <a:buFont typeface="Wingdings" panose="05000000000000000000" pitchFamily="2" charset="2"/>
              <a:buChar char="§"/>
            </a:pPr>
            <a:r>
              <a:rPr lang="en-US" sz="2800" dirty="0"/>
              <a:t>Supports timely inventory decisions and planning</a:t>
            </a:r>
          </a:p>
          <a:p>
            <a:pPr>
              <a:buFont typeface="Wingdings" panose="05000000000000000000" pitchFamily="2" charset="2"/>
              <a:buChar char="§"/>
            </a:pPr>
            <a:r>
              <a:rPr lang="en-US" sz="2800" dirty="0"/>
              <a:t>Ensures product availability, enhancing customer satisfaction</a:t>
            </a:r>
            <a:endParaRPr lang="en-IN" sz="2800" dirty="0"/>
          </a:p>
        </p:txBody>
      </p:sp>
    </p:spTree>
    <p:extLst>
      <p:ext uri="{BB962C8B-B14F-4D97-AF65-F5344CB8AC3E}">
        <p14:creationId xmlns:p14="http://schemas.microsoft.com/office/powerpoint/2010/main" val="2604766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2A16F-2874-36F7-0D0E-217E9164411A}"/>
              </a:ext>
            </a:extLst>
          </p:cNvPr>
          <p:cNvSpPr>
            <a:spLocks noGrp="1"/>
          </p:cNvSpPr>
          <p:nvPr>
            <p:ph type="title"/>
          </p:nvPr>
        </p:nvSpPr>
        <p:spPr>
          <a:xfrm>
            <a:off x="1141413" y="265471"/>
            <a:ext cx="9905998" cy="1278194"/>
          </a:xfrm>
        </p:spPr>
        <p:txBody>
          <a:bodyPr>
            <a:normAutofit/>
          </a:bodyPr>
          <a:lstStyle/>
          <a:p>
            <a:r>
              <a:rPr lang="en-IN" sz="4000" b="1" dirty="0"/>
              <a:t>CONCLUSION – ALERT MODULE SYSTEM</a:t>
            </a:r>
          </a:p>
        </p:txBody>
      </p:sp>
      <p:sp>
        <p:nvSpPr>
          <p:cNvPr id="3" name="Content Placeholder 2">
            <a:extLst>
              <a:ext uri="{FF2B5EF4-FFF2-40B4-BE49-F238E27FC236}">
                <a16:creationId xmlns:a16="http://schemas.microsoft.com/office/drawing/2014/main" id="{AE3930AB-53DC-6A3E-8895-2F6770FC66F7}"/>
              </a:ext>
            </a:extLst>
          </p:cNvPr>
          <p:cNvSpPr>
            <a:spLocks noGrp="1"/>
          </p:cNvSpPr>
          <p:nvPr>
            <p:ph idx="1"/>
          </p:nvPr>
        </p:nvSpPr>
        <p:spPr>
          <a:xfrm>
            <a:off x="1239736" y="956186"/>
            <a:ext cx="9905998" cy="4945627"/>
          </a:xfrm>
        </p:spPr>
        <p:txBody>
          <a:bodyPr>
            <a:normAutofit/>
          </a:bodyPr>
          <a:lstStyle/>
          <a:p>
            <a:pPr marL="0" indent="0">
              <a:buNone/>
            </a:pPr>
            <a:r>
              <a:rPr lang="en-US" sz="2600" dirty="0"/>
              <a:t>The Alert Module is an important part of the Inventory Management System that helps maintain proper stock levels. It continuously monitors inventory and automatically generates alerts when product stock falls below the minimum required level.</a:t>
            </a:r>
          </a:p>
          <a:p>
            <a:pPr marL="0" indent="0">
              <a:buNone/>
            </a:pPr>
            <a:r>
              <a:rPr lang="en-US" sz="2600" dirty="0"/>
              <a:t>These alerts notify users in time to restock items, preventing shortages and ensuring uninterrupted business operations. The module reduces manual inventory checks, saves time, improves accuracy, and supports quick and effective decision-making by managers.</a:t>
            </a:r>
          </a:p>
        </p:txBody>
      </p:sp>
    </p:spTree>
    <p:extLst>
      <p:ext uri="{BB962C8B-B14F-4D97-AF65-F5344CB8AC3E}">
        <p14:creationId xmlns:p14="http://schemas.microsoft.com/office/powerpoint/2010/main" val="29195220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7BDA4-ACB6-AC34-4D4B-6A7298CBD975}"/>
              </a:ext>
            </a:extLst>
          </p:cNvPr>
          <p:cNvSpPr>
            <a:spLocks noGrp="1"/>
          </p:cNvSpPr>
          <p:nvPr>
            <p:ph type="title"/>
          </p:nvPr>
        </p:nvSpPr>
        <p:spPr>
          <a:xfrm>
            <a:off x="1141413" y="609600"/>
            <a:ext cx="9905998" cy="5732206"/>
          </a:xfrm>
        </p:spPr>
        <p:txBody>
          <a:bodyPr>
            <a:normAutofit/>
          </a:bodyPr>
          <a:lstStyle/>
          <a:p>
            <a:pPr algn="ctr"/>
            <a:r>
              <a:rPr lang="en-IN" sz="7200" b="1" dirty="0"/>
              <a:t>THANK YOU </a:t>
            </a:r>
          </a:p>
        </p:txBody>
      </p:sp>
    </p:spTree>
    <p:extLst>
      <p:ext uri="{BB962C8B-B14F-4D97-AF65-F5344CB8AC3E}">
        <p14:creationId xmlns:p14="http://schemas.microsoft.com/office/powerpoint/2010/main" val="31968954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221</TotalTime>
  <Words>1410</Words>
  <Application>Microsoft Office PowerPoint</Application>
  <PresentationFormat>Widescreen</PresentationFormat>
  <Paragraphs>224</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Century Gothic</vt:lpstr>
      <vt:lpstr>Wingdings</vt:lpstr>
      <vt:lpstr>Mesh</vt:lpstr>
      <vt:lpstr>Inventra Intelligent Inventory  Management System  Milestone 3</vt:lpstr>
      <vt:lpstr>OVERVIEW OF Inventra Intelligent Inventory Management System </vt:lpstr>
      <vt:lpstr>MODULE 1 AUTHENTICATION MODULE</vt:lpstr>
      <vt:lpstr>OVERVIEW OF AUTHENTICATION MODULE</vt:lpstr>
      <vt:lpstr>Key Classes - Authentication</vt:lpstr>
      <vt:lpstr> Signup (User Registration)</vt:lpstr>
      <vt:lpstr> Signin (User Login)</vt:lpstr>
      <vt:lpstr> Forgot Password</vt:lpstr>
      <vt:lpstr>Reset Password</vt:lpstr>
      <vt:lpstr>Authentication Flow </vt:lpstr>
      <vt:lpstr>BENEFITS OF AUTHENTICATION MODULE</vt:lpstr>
      <vt:lpstr>CONCLUSION – AUTHENTICATION MODULE </vt:lpstr>
      <vt:lpstr>Module 2 Product/Inventory Management</vt:lpstr>
      <vt:lpstr>OVERVIEW OF PRODUCT MANAGEMENT MODULE</vt:lpstr>
      <vt:lpstr>Key Classes – PRODUCT MANAGEMENT</vt:lpstr>
      <vt:lpstr>Product Class (Entity)</vt:lpstr>
      <vt:lpstr>ProductController Class</vt:lpstr>
      <vt:lpstr>ProductRepository Class</vt:lpstr>
      <vt:lpstr>ProductService Class</vt:lpstr>
      <vt:lpstr>Product Management Flow</vt:lpstr>
      <vt:lpstr>BENEFITS OF PRODUCT MANAGEMENT MODULE</vt:lpstr>
      <vt:lpstr>CONCLUSION – PRODUCT MANAGEMENT MODULE </vt:lpstr>
      <vt:lpstr>MODULE 3 ALERT MANAGEMENT SYSTEM</vt:lpstr>
      <vt:lpstr>OVERVIEW OF ALERT MANAGEMENT MODULE</vt:lpstr>
      <vt:lpstr>Key Classes – ALERT MANAGEMENT MODULE</vt:lpstr>
      <vt:lpstr>INVENTORY ALERTS MODULE – PSEUDO CODE</vt:lpstr>
      <vt:lpstr>INVENTORY ALERTS MODULE – PSEUDO CODE</vt:lpstr>
      <vt:lpstr>ALERT Management SYSTEM Flow</vt:lpstr>
      <vt:lpstr>BENEFITS OF ALERT MANAGEMENT MODULE</vt:lpstr>
      <vt:lpstr>CONCLUSION – ALERT MODULE SYSTEM</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Keerthana. Chintala</dc:creator>
  <cp:lastModifiedBy>Keerthana. Chintala</cp:lastModifiedBy>
  <cp:revision>4</cp:revision>
  <dcterms:created xsi:type="dcterms:W3CDTF">2026-01-11T15:58:31Z</dcterms:created>
  <dcterms:modified xsi:type="dcterms:W3CDTF">2026-01-12T13:00:48Z</dcterms:modified>
</cp:coreProperties>
</file>