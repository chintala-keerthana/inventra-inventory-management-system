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2" r:id="rId1"/>
  </p:sldMasterIdLst>
  <p:notesMasterIdLst>
    <p:notesMasterId r:id="rId31"/>
  </p:notesMasterIdLst>
  <p:sldIdLst>
    <p:sldId id="279" r:id="rId2"/>
    <p:sldId id="278" r:id="rId3"/>
    <p:sldId id="280" r:id="rId4"/>
    <p:sldId id="281" r:id="rId5"/>
    <p:sldId id="262" r:id="rId6"/>
    <p:sldId id="290" r:id="rId7"/>
    <p:sldId id="296" r:id="rId8"/>
    <p:sldId id="264" r:id="rId9"/>
    <p:sldId id="291" r:id="rId10"/>
    <p:sldId id="297" r:id="rId11"/>
    <p:sldId id="295" r:id="rId12"/>
    <p:sldId id="298" r:id="rId13"/>
    <p:sldId id="271" r:id="rId14"/>
    <p:sldId id="282" r:id="rId15"/>
    <p:sldId id="300" r:id="rId16"/>
    <p:sldId id="292" r:id="rId17"/>
    <p:sldId id="301" r:id="rId18"/>
    <p:sldId id="283" r:id="rId19"/>
    <p:sldId id="293" r:id="rId20"/>
    <p:sldId id="302" r:id="rId21"/>
    <p:sldId id="303" r:id="rId22"/>
    <p:sldId id="284" r:id="rId23"/>
    <p:sldId id="294" r:id="rId24"/>
    <p:sldId id="304" r:id="rId25"/>
    <p:sldId id="286" r:id="rId26"/>
    <p:sldId id="305" r:id="rId27"/>
    <p:sldId id="306" r:id="rId28"/>
    <p:sldId id="307" r:id="rId29"/>
    <p:sldId id="30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BE02C-A189-4FD4-9445-479223C5010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34263-D5C3-4706-9A3F-D111ED552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355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34263-D5C3-4706-9A3F-D111ED55273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170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34263-D5C3-4706-9A3F-D111ED55273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139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AB3A824-1A51-4B26-AD58-A6D8E14F6C04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458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92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E5059C3-6A89-4494-99FF-5A4D6FFD50EB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361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8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689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738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335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79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831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8928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CBC1C18-307B-4F68-A007-B5B542270E8D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9045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CBC1C18-307B-4F68-A007-B5B542270E8D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759676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CBC1C18-307B-4F68-A007-B5B542270E8D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21582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76968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0687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454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3FFE419-2371-464F-8239-3959401C3561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797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93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  <p:sldLayoutId id="2147483879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BDD8-6380-D238-F68E-42606CE2D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534" y="930441"/>
            <a:ext cx="10529075" cy="2891589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 err="1"/>
              <a:t>Inventra</a:t>
            </a:r>
            <a:r>
              <a:rPr lang="en-IN" sz="6000" b="1" dirty="0"/>
              <a:t> – Intelligent Inventory Management System</a:t>
            </a: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A2E7B-ADE7-9A6B-D962-129A44F62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316" y="3706761"/>
            <a:ext cx="11505293" cy="1889048"/>
          </a:xfrm>
        </p:spPr>
        <p:txBody>
          <a:bodyPr>
            <a:noAutofit/>
          </a:bodyPr>
          <a:lstStyle/>
          <a:p>
            <a:pPr algn="r"/>
            <a:r>
              <a:rPr lang="en-IN" sz="2000" b="1" u="sng" dirty="0">
                <a:solidFill>
                  <a:schemeClr val="bg1"/>
                </a:solidFill>
              </a:rPr>
              <a:t>Team Members </a:t>
            </a:r>
          </a:p>
          <a:p>
            <a:pPr algn="r"/>
            <a:r>
              <a:rPr lang="en-IN" sz="1800" dirty="0">
                <a:solidFill>
                  <a:schemeClr val="bg1"/>
                </a:solidFill>
              </a:rPr>
              <a:t>Srishty Shekhar</a:t>
            </a:r>
          </a:p>
          <a:p>
            <a:pPr algn="r"/>
            <a:r>
              <a:rPr lang="en-IN" sz="1800" dirty="0">
                <a:solidFill>
                  <a:schemeClr val="bg1"/>
                </a:solidFill>
              </a:rPr>
              <a:t>Keerthan Karthikeya </a:t>
            </a:r>
            <a:r>
              <a:rPr lang="en-IN" sz="1800" dirty="0" err="1">
                <a:solidFill>
                  <a:schemeClr val="bg1"/>
                </a:solidFill>
              </a:rPr>
              <a:t>Vaggala</a:t>
            </a:r>
            <a:endParaRPr lang="en-IN" sz="1800" dirty="0">
              <a:solidFill>
                <a:schemeClr val="bg1"/>
              </a:solidFill>
            </a:endParaRPr>
          </a:p>
          <a:p>
            <a:pPr algn="r"/>
            <a:r>
              <a:rPr lang="en-IN" sz="1800" dirty="0">
                <a:solidFill>
                  <a:schemeClr val="bg1"/>
                </a:solidFill>
              </a:rPr>
              <a:t>Prathyusha </a:t>
            </a:r>
            <a:r>
              <a:rPr lang="en-IN" sz="1800" dirty="0" err="1">
                <a:solidFill>
                  <a:schemeClr val="bg1"/>
                </a:solidFill>
              </a:rPr>
              <a:t>Yekamba</a:t>
            </a:r>
            <a:endParaRPr lang="en-IN" sz="1800" dirty="0">
              <a:solidFill>
                <a:schemeClr val="bg1"/>
              </a:solidFill>
            </a:endParaRPr>
          </a:p>
          <a:p>
            <a:pPr algn="r"/>
            <a:r>
              <a:rPr lang="en-IN" sz="1800" dirty="0">
                <a:solidFill>
                  <a:schemeClr val="bg1"/>
                </a:solidFill>
              </a:rPr>
              <a:t>Nitish Kumar Chaudhary</a:t>
            </a:r>
          </a:p>
          <a:p>
            <a:pPr algn="r"/>
            <a:r>
              <a:rPr lang="en-IN" sz="1800" dirty="0">
                <a:solidFill>
                  <a:schemeClr val="bg1"/>
                </a:solidFill>
              </a:rPr>
              <a:t>Chintala Keerthana</a:t>
            </a:r>
          </a:p>
        </p:txBody>
      </p:sp>
    </p:spTree>
    <p:extLst>
      <p:ext uri="{BB962C8B-B14F-4D97-AF65-F5344CB8AC3E}">
        <p14:creationId xmlns:p14="http://schemas.microsoft.com/office/powerpoint/2010/main" val="3060932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FBAD-C9D4-A8EB-7055-B3CC3C58D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1069173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09598-A567-D06E-A3B9-34334981F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2603500"/>
            <a:ext cx="11090787" cy="3416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Inventra</a:t>
            </a:r>
            <a:r>
              <a:rPr lang="en-US" sz="2000" dirty="0"/>
              <a:t> is an enterprise-level </a:t>
            </a:r>
            <a:r>
              <a:rPr lang="en-US" sz="2000" b="1" dirty="0"/>
              <a:t>Intelligent Inventory Management System</a:t>
            </a:r>
            <a:r>
              <a:rPr lang="en-US" sz="2000" dirty="0"/>
              <a:t> designed to automate inventory tracking, monitor stock levels in real time, and generate alerts when inventory falls below predefined thresholds. The system helps organizations reduce manual errors, avoid stock-outs, and improve operational efficiency through data-driven insights.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7064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ED57-6C41-1E43-6151-27A82C6B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512" y="785142"/>
            <a:ext cx="9692640" cy="1828190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571FD-8C6C-3A68-DB66-B009B1CD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12" y="2269203"/>
            <a:ext cx="10955218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Traditional inventory management systems face several challenges:-</a:t>
            </a:r>
          </a:p>
          <a:p>
            <a:r>
              <a:rPr lang="en-US" sz="2400" dirty="0"/>
              <a:t>Manual tracking leads to errors and inconsistencies</a:t>
            </a:r>
          </a:p>
          <a:p>
            <a:r>
              <a:rPr lang="en-US" sz="2400" dirty="0"/>
              <a:t>Lack of real-time stock monitoring</a:t>
            </a:r>
          </a:p>
          <a:p>
            <a:r>
              <a:rPr lang="en-US" sz="2400" dirty="0"/>
              <a:t>No automated alert mechanism for low stock</a:t>
            </a:r>
          </a:p>
          <a:p>
            <a:r>
              <a:rPr lang="en-US" sz="2400" dirty="0"/>
              <a:t>Time-consuming report generation</a:t>
            </a:r>
          </a:p>
          <a:p>
            <a:r>
              <a:rPr lang="en-US" sz="2400" dirty="0"/>
              <a:t>Inefficient decision-making due to limited analytics</a:t>
            </a:r>
          </a:p>
        </p:txBody>
      </p:sp>
    </p:spTree>
    <p:extLst>
      <p:ext uri="{BB962C8B-B14F-4D97-AF65-F5344CB8AC3E}">
        <p14:creationId xmlns:p14="http://schemas.microsoft.com/office/powerpoint/2010/main" val="226567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0B74-89BF-3A6F-D4F5-26AE9F7A0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328" y="1298133"/>
            <a:ext cx="9424556" cy="1110770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7B0D2-19B3-3D31-B6E8-212DB1ED0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19" y="2408903"/>
            <a:ext cx="10717162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Inventor addresses these challenges by:-</a:t>
            </a:r>
          </a:p>
          <a:p>
            <a:r>
              <a:rPr lang="en-US" sz="2400" b="1" dirty="0"/>
              <a:t>Automating</a:t>
            </a:r>
            <a:r>
              <a:rPr lang="en-US" sz="2400" dirty="0"/>
              <a:t> inventory tracking</a:t>
            </a:r>
          </a:p>
          <a:p>
            <a:r>
              <a:rPr lang="en-US" sz="2400" dirty="0"/>
              <a:t>Providing </a:t>
            </a:r>
            <a:r>
              <a:rPr lang="en-US" sz="2400" b="1" dirty="0"/>
              <a:t>real-time</a:t>
            </a:r>
            <a:r>
              <a:rPr lang="en-US" sz="2400" dirty="0"/>
              <a:t> stock monitoring</a:t>
            </a:r>
          </a:p>
          <a:p>
            <a:r>
              <a:rPr lang="en-US" sz="2400" dirty="0"/>
              <a:t>Generating </a:t>
            </a:r>
            <a:r>
              <a:rPr lang="en-US" sz="2400" b="1" dirty="0"/>
              <a:t>low-stock</a:t>
            </a:r>
            <a:r>
              <a:rPr lang="en-US" sz="2400" dirty="0"/>
              <a:t> </a:t>
            </a:r>
            <a:r>
              <a:rPr lang="en-US" sz="2400" b="1" dirty="0"/>
              <a:t>alerts</a:t>
            </a:r>
            <a:r>
              <a:rPr lang="en-US" sz="2400" dirty="0"/>
              <a:t> automatically</a:t>
            </a:r>
          </a:p>
          <a:p>
            <a:r>
              <a:rPr lang="en-US" sz="2400" dirty="0"/>
              <a:t>Offering </a:t>
            </a:r>
            <a:r>
              <a:rPr lang="en-US" sz="2400" b="1" dirty="0"/>
              <a:t>detailed reports and analytics</a:t>
            </a:r>
          </a:p>
          <a:p>
            <a:r>
              <a:rPr lang="en-US" sz="2400" dirty="0"/>
              <a:t>Ensuring </a:t>
            </a:r>
            <a:r>
              <a:rPr lang="en-US" sz="2400" b="1" dirty="0"/>
              <a:t>secure access</a:t>
            </a:r>
            <a:r>
              <a:rPr lang="en-US" sz="2400" dirty="0"/>
              <a:t> using </a:t>
            </a:r>
            <a:r>
              <a:rPr lang="en-US" sz="2400" b="1" dirty="0"/>
              <a:t>authentication</a:t>
            </a:r>
          </a:p>
          <a:p>
            <a:r>
              <a:rPr lang="en-US" sz="2400" dirty="0"/>
              <a:t>Reducing human errors and </a:t>
            </a:r>
            <a:r>
              <a:rPr lang="en-US" sz="2400" b="1" dirty="0"/>
              <a:t>improving efficiency</a:t>
            </a:r>
          </a:p>
        </p:txBody>
      </p:sp>
    </p:spTree>
    <p:extLst>
      <p:ext uri="{BB962C8B-B14F-4D97-AF65-F5344CB8AC3E}">
        <p14:creationId xmlns:p14="http://schemas.microsoft.com/office/powerpoint/2010/main" val="2693061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6065-520F-E7A4-FDCF-1A8E26212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521" y="929148"/>
            <a:ext cx="9692640" cy="1325562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AB9F-2085-BE5D-D8F6-53C1AFFD3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656" y="2146710"/>
            <a:ext cx="11032885" cy="349700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Front-End:</a:t>
            </a:r>
            <a:r>
              <a:rPr lang="en-IN" sz="2800" dirty="0">
                <a:cs typeface="Arial" panose="020B0604020202020204" pitchFamily="34" charset="0"/>
              </a:rPr>
              <a:t> HTML, CSS, JavaScript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Back-End:</a:t>
            </a:r>
            <a:r>
              <a:rPr lang="en-IN" sz="2800" dirty="0">
                <a:cs typeface="Arial" panose="020B0604020202020204" pitchFamily="34" charset="0"/>
              </a:rPr>
              <a:t> Java (JDK 8/11)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Frameworks:</a:t>
            </a:r>
            <a:r>
              <a:rPr lang="en-IN" sz="2800" dirty="0">
                <a:cs typeface="Arial" panose="020B0604020202020204" pitchFamily="34" charset="0"/>
              </a:rPr>
              <a:t> spring Boot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Database:</a:t>
            </a:r>
            <a:r>
              <a:rPr lang="en-IN" sz="2800" dirty="0">
                <a:cs typeface="Arial" panose="020B0604020202020204" pitchFamily="34" charset="0"/>
              </a:rPr>
              <a:t> MySQL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Tools:</a:t>
            </a:r>
            <a:r>
              <a:rPr lang="en-IN" sz="2800" dirty="0">
                <a:cs typeface="Arial" panose="020B0604020202020204" pitchFamily="34" charset="0"/>
              </a:rPr>
              <a:t> VS Code</a:t>
            </a:r>
          </a:p>
          <a:p>
            <a:pPr marL="0" indent="0">
              <a:buNone/>
            </a:pPr>
            <a:endParaRPr lang="en-IN" sz="28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  <a:cs typeface="Arial" panose="020B0604020202020204" pitchFamily="34" charset="0"/>
              </a:rPr>
              <a:t>User</a:t>
            </a:r>
            <a:r>
              <a:rPr lang="en-IN" sz="2800" b="1" dirty="0">
                <a:cs typeface="Arial" panose="020B0604020202020204" pitchFamily="34" charset="0"/>
              </a:rPr>
              <a:t> → Frontend → Backend →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  <a:cs typeface="Arial" panose="020B0604020202020204" pitchFamily="34" charset="0"/>
              </a:rPr>
              <a:t>Database</a:t>
            </a:r>
            <a:r>
              <a:rPr lang="en-IN" sz="2800" b="1" dirty="0">
                <a:cs typeface="Arial" panose="020B0604020202020204" pitchFamily="34" charset="0"/>
              </a:rPr>
              <a:t> → Alerts / Reports</a:t>
            </a:r>
          </a:p>
          <a:p>
            <a:pPr marL="0" indent="0">
              <a:buNone/>
            </a:pPr>
            <a:endParaRPr lang="en-IN" sz="2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8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589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BE824-CEC3-18E2-0793-CB4BCB43F188}"/>
              </a:ext>
            </a:extLst>
          </p:cNvPr>
          <p:cNvSpPr/>
          <p:nvPr/>
        </p:nvSpPr>
        <p:spPr>
          <a:xfrm>
            <a:off x="619432" y="1419175"/>
            <a:ext cx="2900516" cy="21139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USER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(Admin / Staff)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F94946-9D03-6F53-8DCF-475AAC0DD088}"/>
              </a:ext>
            </a:extLst>
          </p:cNvPr>
          <p:cNvSpPr/>
          <p:nvPr/>
        </p:nvSpPr>
        <p:spPr>
          <a:xfrm>
            <a:off x="4940710" y="1419175"/>
            <a:ext cx="2664542" cy="21139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FRONT-END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HTML, CSS, JS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(User Interface)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B88AB5-7613-7B2F-3E43-2EED22D19BA3}"/>
              </a:ext>
            </a:extLst>
          </p:cNvPr>
          <p:cNvSpPr/>
          <p:nvPr/>
        </p:nvSpPr>
        <p:spPr>
          <a:xfrm>
            <a:off x="4940710" y="4447351"/>
            <a:ext cx="2664542" cy="19727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BACK-END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Java (JDBC)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Authentication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Inventory Logic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Alerts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B541F62-3C68-8AEB-AB4F-CC1C436AFB15}"/>
              </a:ext>
            </a:extLst>
          </p:cNvPr>
          <p:cNvSpPr/>
          <p:nvPr/>
        </p:nvSpPr>
        <p:spPr>
          <a:xfrm>
            <a:off x="3969774" y="2313909"/>
            <a:ext cx="521110" cy="3244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FD6A6EB-5795-D369-036C-5D71C176D810}"/>
              </a:ext>
            </a:extLst>
          </p:cNvPr>
          <p:cNvSpPr/>
          <p:nvPr/>
        </p:nvSpPr>
        <p:spPr>
          <a:xfrm>
            <a:off x="6030665" y="3660850"/>
            <a:ext cx="484632" cy="658761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E7C7C73-1E26-668F-0209-D1B9F63739F5}"/>
              </a:ext>
            </a:extLst>
          </p:cNvPr>
          <p:cNvSpPr/>
          <p:nvPr/>
        </p:nvSpPr>
        <p:spPr>
          <a:xfrm>
            <a:off x="7937091" y="5191432"/>
            <a:ext cx="540774" cy="48463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A22B4-0E27-98BC-D385-33777A568ACE}"/>
              </a:ext>
            </a:extLst>
          </p:cNvPr>
          <p:cNvSpPr/>
          <p:nvPr/>
        </p:nvSpPr>
        <p:spPr>
          <a:xfrm>
            <a:off x="8809704" y="4447351"/>
            <a:ext cx="2576051" cy="19727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DATABASE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MySQL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Users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Products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Stock Details</a:t>
            </a:r>
            <a:endParaRPr lang="en-IN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253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BB8142-7E48-972B-F605-EDB4286AA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773" y="668519"/>
            <a:ext cx="6014988" cy="55209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307EB7-07D6-450C-E0DD-66BC7A1B5553}"/>
              </a:ext>
            </a:extLst>
          </p:cNvPr>
          <p:cNvSpPr txBox="1"/>
          <p:nvPr/>
        </p:nvSpPr>
        <p:spPr>
          <a:xfrm>
            <a:off x="3421627" y="512501"/>
            <a:ext cx="51436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dirty="0"/>
              <a:t>System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D9BBF-3E2E-E38F-87D2-0AFD90E74283}"/>
              </a:ext>
            </a:extLst>
          </p:cNvPr>
          <p:cNvSpPr txBox="1"/>
          <p:nvPr/>
        </p:nvSpPr>
        <p:spPr>
          <a:xfrm>
            <a:off x="761239" y="1235146"/>
            <a:ext cx="4056854" cy="5536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US" sz="1700" b="1" dirty="0"/>
              <a:t>The Intelligent Inventory Management System consists of four key modules: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US" sz="1700" b="1" dirty="0"/>
              <a:t>Authentication:</a:t>
            </a:r>
            <a:r>
              <a:rPr lang="en-US" sz="1700" dirty="0"/>
              <a:t> Manages user access and security.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US" sz="1700" b="1" dirty="0"/>
              <a:t>Product Management &amp; Stock Tracking:</a:t>
            </a:r>
            <a:r>
              <a:rPr lang="en-US" sz="1700" dirty="0"/>
              <a:t> Handles product information and tracks inventory levels.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US" sz="1700" b="1" dirty="0"/>
              <a:t>Alerts:</a:t>
            </a:r>
            <a:r>
              <a:rPr lang="en-US" sz="1700" dirty="0"/>
              <a:t> Sends notifications based on predefined rules and thresholds.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US" sz="1700" b="1" dirty="0"/>
              <a:t>Reports &amp; Analysis:</a:t>
            </a:r>
            <a:r>
              <a:rPr lang="en-US" sz="1700" dirty="0"/>
              <a:t> Generates reports and provides insights into inventory data.</a:t>
            </a:r>
          </a:p>
        </p:txBody>
      </p:sp>
    </p:spTree>
    <p:extLst>
      <p:ext uri="{BB962C8B-B14F-4D97-AF65-F5344CB8AC3E}">
        <p14:creationId xmlns:p14="http://schemas.microsoft.com/office/powerpoint/2010/main" val="51545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4E9B0-96E8-F38B-B42F-6BEB56E97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07" y="553928"/>
            <a:ext cx="9692640" cy="15050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b="1" dirty="0"/>
              <a:t>Module 1 </a:t>
            </a:r>
            <a:br>
              <a:rPr lang="en-IN" sz="5400" b="1" dirty="0"/>
            </a:br>
            <a:r>
              <a:rPr lang="en-IN" sz="5400" b="1" dirty="0"/>
              <a:t>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0E85E-5DD9-F18B-625D-878F36E8D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007" y="2456030"/>
            <a:ext cx="10992464" cy="3627425"/>
          </a:xfrm>
        </p:spPr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sz="2400" dirty="0"/>
              <a:t>Handles secure user login and logout functionality</a:t>
            </a:r>
          </a:p>
          <a:p>
            <a:r>
              <a:rPr lang="en-US" sz="2400" dirty="0"/>
              <a:t> Validates user credentials against stored data</a:t>
            </a:r>
          </a:p>
          <a:p>
            <a:r>
              <a:rPr lang="en-US" sz="2400" dirty="0"/>
              <a:t> Ensures authorized access to the system</a:t>
            </a:r>
          </a:p>
          <a:p>
            <a:r>
              <a:rPr lang="en-US" sz="2400" dirty="0"/>
              <a:t> Prevents unauthorized users from accessing inventory data</a:t>
            </a:r>
          </a:p>
          <a:p>
            <a:r>
              <a:rPr lang="en-US" sz="2400" dirty="0"/>
              <a:t> Maintains session control for logged-in users</a:t>
            </a:r>
          </a:p>
          <a:p>
            <a:r>
              <a:rPr lang="en-US" sz="2400" dirty="0"/>
              <a:t>Uses role-based access (Admin/User)</a:t>
            </a:r>
          </a:p>
        </p:txBody>
      </p:sp>
    </p:spTree>
    <p:extLst>
      <p:ext uri="{BB962C8B-B14F-4D97-AF65-F5344CB8AC3E}">
        <p14:creationId xmlns:p14="http://schemas.microsoft.com/office/powerpoint/2010/main" val="2759699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959C-0511-A983-41DD-D66C7DBA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508000"/>
            <a:ext cx="8825659" cy="1625599"/>
          </a:xfrm>
        </p:spPr>
        <p:txBody>
          <a:bodyPr/>
          <a:lstStyle/>
          <a:p>
            <a:pPr algn="ctr"/>
            <a:r>
              <a:rPr lang="en-IN" sz="4900" b="1" dirty="0"/>
              <a:t>Module 1 </a:t>
            </a:r>
            <a:br>
              <a:rPr lang="en-IN" sz="4900" b="1" dirty="0"/>
            </a:br>
            <a:r>
              <a:rPr lang="en-IN" sz="4900" b="1" dirty="0"/>
              <a:t>Authentication</a:t>
            </a:r>
            <a:endParaRPr lang="en-IN" sz="4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FCFB7-87A1-A89A-5CB2-62DBD3DA2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3" y="2369574"/>
            <a:ext cx="10742653" cy="3980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Input:</a:t>
            </a:r>
            <a:endParaRPr lang="en-IN" dirty="0"/>
          </a:p>
          <a:p>
            <a:r>
              <a:rPr lang="en-IN" dirty="0"/>
              <a:t>Username and password entered by user</a:t>
            </a:r>
          </a:p>
          <a:p>
            <a:pPr marL="0" indent="0">
              <a:buNone/>
            </a:pPr>
            <a:r>
              <a:rPr lang="en-IN" b="1" dirty="0"/>
              <a:t>Process:</a:t>
            </a:r>
            <a:endParaRPr lang="en-IN" dirty="0"/>
          </a:p>
          <a:p>
            <a:r>
              <a:rPr lang="en-IN" dirty="0"/>
              <a:t>Validates credentials against database</a:t>
            </a:r>
          </a:p>
          <a:p>
            <a:r>
              <a:rPr lang="en-IN" dirty="0"/>
              <a:t>Verifies user role (Admin / Staff)</a:t>
            </a:r>
          </a:p>
          <a:p>
            <a:r>
              <a:rPr lang="en-IN" dirty="0"/>
              <a:t>Creates and manages user session</a:t>
            </a:r>
          </a:p>
          <a:p>
            <a:pPr marL="0" indent="0">
              <a:buNone/>
            </a:pPr>
            <a:r>
              <a:rPr lang="en-IN" b="1" dirty="0"/>
              <a:t>Output:</a:t>
            </a:r>
            <a:endParaRPr lang="en-IN" dirty="0"/>
          </a:p>
          <a:p>
            <a:r>
              <a:rPr lang="en-IN" dirty="0"/>
              <a:t>Secure login access</a:t>
            </a:r>
          </a:p>
          <a:p>
            <a:r>
              <a:rPr lang="en-IN" dirty="0"/>
              <a:t>Role-based dashboard displayed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719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6F1E3-2C21-7CD1-5FE1-E9348384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954" y="852863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Classes</a:t>
            </a:r>
            <a:endParaRPr lang="en-IN" sz="4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B49E5-0ACD-E5C6-8356-F65281DD988A}"/>
              </a:ext>
            </a:extLst>
          </p:cNvPr>
          <p:cNvSpPr txBox="1"/>
          <p:nvPr/>
        </p:nvSpPr>
        <p:spPr>
          <a:xfrm>
            <a:off x="943896" y="2348114"/>
            <a:ext cx="8825658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Classes:</a:t>
            </a:r>
            <a:endParaRPr lang="en-US" dirty="0"/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Controller</a:t>
            </a:r>
            <a:r>
              <a:rPr lang="en-US" dirty="0"/>
              <a:t>: Handles authentication-related HTTP requests.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Service</a:t>
            </a:r>
            <a:r>
              <a:rPr lang="en-US" dirty="0"/>
              <a:t>: Implements the authentication logic.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Repository</a:t>
            </a:r>
            <a:r>
              <a:rPr lang="en-US" dirty="0"/>
              <a:t>: Interacts with the </a:t>
            </a:r>
            <a:r>
              <a:rPr lang="en-US" dirty="0">
                <a:latin typeface="Courier New" panose="02070309020205020404" pitchFamily="49" charset="0"/>
              </a:rPr>
              <a:t>User Database</a:t>
            </a:r>
            <a:r>
              <a:rPr lang="en-US" dirty="0"/>
              <a:t>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User</a:t>
            </a:r>
            <a:r>
              <a:rPr lang="en-US" b="1" dirty="0"/>
              <a:t>: </a:t>
            </a:r>
            <a:r>
              <a:rPr lang="en-US" dirty="0"/>
              <a:t>Represents a user in the system (database entity).</a:t>
            </a:r>
          </a:p>
        </p:txBody>
      </p:sp>
    </p:spTree>
    <p:extLst>
      <p:ext uri="{BB962C8B-B14F-4D97-AF65-F5344CB8AC3E}">
        <p14:creationId xmlns:p14="http://schemas.microsoft.com/office/powerpoint/2010/main" val="2249844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BA4F-1F49-5F4C-632A-B1ED586F9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1010031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Work flow</a:t>
            </a:r>
            <a:endParaRPr lang="en-IN" sz="4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A1E76-E5F4-6427-3B68-6E97B5AE0F7B}"/>
              </a:ext>
            </a:extLst>
          </p:cNvPr>
          <p:cNvSpPr txBox="1"/>
          <p:nvPr/>
        </p:nvSpPr>
        <p:spPr>
          <a:xfrm>
            <a:off x="707922" y="2303059"/>
            <a:ext cx="11238272" cy="324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dirty="0"/>
              <a:t>Process:</a:t>
            </a:r>
            <a:endParaRPr lang="en-US" dirty="0"/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enters credentials (username/password).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Controller</a:t>
            </a:r>
            <a:r>
              <a:rPr lang="en-US" b="1" dirty="0"/>
              <a:t> </a:t>
            </a:r>
            <a:r>
              <a:rPr lang="en-US" dirty="0"/>
              <a:t>receives the request.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Controller</a:t>
            </a:r>
            <a:r>
              <a:rPr lang="en-US" b="1" dirty="0"/>
              <a:t> </a:t>
            </a:r>
            <a:r>
              <a:rPr lang="en-US" dirty="0"/>
              <a:t>calls </a:t>
            </a:r>
            <a:r>
              <a:rPr lang="en-US" b="1" dirty="0">
                <a:latin typeface="Courier New" panose="02070309020205020404" pitchFamily="49" charset="0"/>
              </a:rPr>
              <a:t>AUTH Service</a:t>
            </a:r>
            <a:r>
              <a:rPr lang="en-US" b="1" dirty="0"/>
              <a:t> </a:t>
            </a:r>
            <a:r>
              <a:rPr lang="en-US" dirty="0"/>
              <a:t>to validate the credentials.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Service</a:t>
            </a:r>
            <a:r>
              <a:rPr lang="en-US" b="1" dirty="0"/>
              <a:t> </a:t>
            </a:r>
            <a:r>
              <a:rPr lang="en-US" dirty="0"/>
              <a:t>calls </a:t>
            </a:r>
            <a:r>
              <a:rPr lang="en-US" b="1" dirty="0">
                <a:latin typeface="Courier New" panose="02070309020205020404" pitchFamily="49" charset="0"/>
              </a:rPr>
              <a:t>AUTH Repository</a:t>
            </a:r>
            <a:r>
              <a:rPr lang="en-US" b="1" dirty="0"/>
              <a:t> </a:t>
            </a:r>
            <a:r>
              <a:rPr lang="en-US" dirty="0"/>
              <a:t>to retrieve user data from the </a:t>
            </a:r>
            <a:r>
              <a:rPr lang="en-US" dirty="0">
                <a:latin typeface="Courier New" panose="02070309020205020404" pitchFamily="49" charset="0"/>
              </a:rPr>
              <a:t>User Database</a:t>
            </a:r>
            <a:r>
              <a:rPr lang="en-US" dirty="0"/>
              <a:t>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Repository</a:t>
            </a:r>
            <a:r>
              <a:rPr lang="en-US" b="1" dirty="0"/>
              <a:t> </a:t>
            </a:r>
            <a:r>
              <a:rPr lang="en-US" dirty="0"/>
              <a:t>queries the </a:t>
            </a:r>
            <a:r>
              <a:rPr lang="en-US" dirty="0">
                <a:latin typeface="Courier New" panose="02070309020205020404" pitchFamily="49" charset="0"/>
              </a:rPr>
              <a:t>User Database</a:t>
            </a:r>
            <a:r>
              <a:rPr lang="en-US" dirty="0"/>
              <a:t>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Service</a:t>
            </a:r>
            <a:r>
              <a:rPr lang="en-US" b="1" dirty="0"/>
              <a:t> </a:t>
            </a:r>
            <a:r>
              <a:rPr lang="en-US" dirty="0"/>
              <a:t>compares the entered credentials with the data from the database.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Controller</a:t>
            </a:r>
            <a:r>
              <a:rPr lang="en-US" b="1" dirty="0"/>
              <a:t> </a:t>
            </a:r>
            <a:r>
              <a:rPr lang="en-US" dirty="0"/>
              <a:t>returns the token to the user.</a:t>
            </a:r>
          </a:p>
        </p:txBody>
      </p:sp>
    </p:spTree>
    <p:extLst>
      <p:ext uri="{BB962C8B-B14F-4D97-AF65-F5344CB8AC3E}">
        <p14:creationId xmlns:p14="http://schemas.microsoft.com/office/powerpoint/2010/main" val="3135166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3565-EC9C-63DF-2822-847B68D04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52168" y="1142019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Flow </a:t>
            </a:r>
            <a:endParaRPr lang="en-IN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9507C-115D-930C-34C9-851C8019F7A6}"/>
              </a:ext>
            </a:extLst>
          </p:cNvPr>
          <p:cNvSpPr txBox="1"/>
          <p:nvPr/>
        </p:nvSpPr>
        <p:spPr>
          <a:xfrm>
            <a:off x="975164" y="2655968"/>
            <a:ext cx="6096000" cy="773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Signup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UI → Controller → Service → Repository → Database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A56224-6500-DC50-BF0E-7F722257D8C9}"/>
              </a:ext>
            </a:extLst>
          </p:cNvPr>
          <p:cNvSpPr txBox="1"/>
          <p:nvPr/>
        </p:nvSpPr>
        <p:spPr>
          <a:xfrm>
            <a:off x="975164" y="3789744"/>
            <a:ext cx="6096000" cy="773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Sign in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UI → Controller → Service → JWT Token → UI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AC24E-7D49-BA2A-23DB-A76F03116879}"/>
              </a:ext>
            </a:extLst>
          </p:cNvPr>
          <p:cNvSpPr txBox="1"/>
          <p:nvPr/>
        </p:nvSpPr>
        <p:spPr>
          <a:xfrm>
            <a:off x="975164" y="5004618"/>
            <a:ext cx="6096000" cy="1171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Forgot Password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UI → Controller → Service → Email Service → User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 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EFF32-1F3C-29B5-7245-565F26FBA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05" y="304800"/>
            <a:ext cx="4511460" cy="63938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7798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048D-90C7-F6DD-ED8A-A2CF391B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020" y="1059871"/>
            <a:ext cx="9692640" cy="99113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b="1" dirty="0"/>
              <a:t>Authentication</a:t>
            </a:r>
            <a:br>
              <a:rPr lang="en-IN" sz="5400" b="1" dirty="0"/>
            </a:br>
            <a:r>
              <a:rPr lang="en-IN" sz="5400" b="1" dirty="0"/>
              <a:t> Database Schema</a:t>
            </a:r>
            <a:endParaRPr lang="en-IN" sz="36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C24066-BBD6-3B9B-3629-8C3C71A9CE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8476814"/>
              </p:ext>
            </p:extLst>
          </p:nvPr>
        </p:nvGraphicFramePr>
        <p:xfrm>
          <a:off x="1230999" y="2497394"/>
          <a:ext cx="9692640" cy="373982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230880">
                  <a:extLst>
                    <a:ext uri="{9D8B030D-6E8A-4147-A177-3AD203B41FA5}">
                      <a16:colId xmlns:a16="http://schemas.microsoft.com/office/drawing/2014/main" val="2388820753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4224157352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2732771792"/>
                    </a:ext>
                  </a:extLst>
                </a:gridCol>
              </a:tblGrid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769771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UserId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Unique User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250042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Unique Username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784099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User Email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659391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Encrypted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690641"/>
                  </a:ext>
                </a:extLst>
              </a:tr>
              <a:tr h="58755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Authorization/Permissions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840544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Created_at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Automatically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254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262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A3E8-7924-852D-47B4-E6CC3348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787531"/>
            <a:ext cx="9692640" cy="174105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/>
              <a:t>Module 2 </a:t>
            </a:r>
            <a:br>
              <a:rPr lang="en-IN" sz="4400" b="1" dirty="0"/>
            </a:br>
            <a:r>
              <a:rPr lang="en-IN" sz="4400" b="1" dirty="0"/>
              <a:t>Product / Inventory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31F11-E07E-ED84-5A61-11356FD09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528586"/>
            <a:ext cx="10220239" cy="3144627"/>
          </a:xfrm>
        </p:spPr>
        <p:txBody>
          <a:bodyPr>
            <a:normAutofit/>
          </a:bodyPr>
          <a:lstStyle/>
          <a:p>
            <a:r>
              <a:rPr lang="en-US" sz="2400" dirty="0"/>
              <a:t>Allows users to add new products with details such as name, category, quantity, and price</a:t>
            </a:r>
          </a:p>
          <a:p>
            <a:r>
              <a:rPr lang="en-US" sz="2400" dirty="0"/>
              <a:t>Enables updating and deleting existing product records</a:t>
            </a:r>
          </a:p>
          <a:p>
            <a:r>
              <a:rPr lang="en-US" sz="2400" dirty="0"/>
              <a:t>Maintains real-time stock information</a:t>
            </a:r>
          </a:p>
          <a:p>
            <a:r>
              <a:rPr lang="en-US" sz="2400" dirty="0"/>
              <a:t>Ensures data consistency across inventory operations</a:t>
            </a:r>
          </a:p>
          <a:p>
            <a:r>
              <a:rPr lang="en-US" sz="2400" dirty="0"/>
              <a:t>Supports efficient management of product lifecycle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68497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D9BD-606F-68A1-37CA-62E05CCFC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284" y="1049508"/>
            <a:ext cx="8610600" cy="1293028"/>
          </a:xfrm>
        </p:spPr>
        <p:txBody>
          <a:bodyPr/>
          <a:lstStyle/>
          <a:p>
            <a:pPr algn="ctr"/>
            <a:r>
              <a:rPr lang="en-US" b="1" dirty="0"/>
              <a:t>Database </a:t>
            </a:r>
            <a:endParaRPr lang="en-IN" b="1" dirty="0"/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89A4263B-1A3C-22B3-594D-ED033EA2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77" y="2475224"/>
            <a:ext cx="10081845" cy="420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55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1782-9020-CB84-40B5-DF8C0CE41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27367"/>
            <a:ext cx="8825659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/>
              <a:t>Module 2 </a:t>
            </a:r>
            <a:br>
              <a:rPr lang="en-IN" sz="4000" b="1" dirty="0"/>
            </a:br>
            <a:r>
              <a:rPr lang="en-IN" sz="4000" b="1" dirty="0"/>
              <a:t>Product / Inventory Management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C5F3C-CCD7-404D-A42A-4EF2F4F2E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771" y="2218266"/>
            <a:ext cx="10393579" cy="40188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Input:</a:t>
            </a:r>
            <a:endParaRPr lang="en-IN" sz="2000" dirty="0"/>
          </a:p>
          <a:p>
            <a:r>
              <a:rPr lang="en-IN" sz="2000" dirty="0"/>
              <a:t>Product details (name, category, quantity, price)</a:t>
            </a:r>
          </a:p>
          <a:p>
            <a:r>
              <a:rPr lang="en-IN" sz="2000" dirty="0"/>
              <a:t>Update or delete requests</a:t>
            </a:r>
          </a:p>
          <a:p>
            <a:pPr marL="0" indent="0">
              <a:buNone/>
            </a:pPr>
            <a:r>
              <a:rPr lang="en-IN" sz="2000" b="1" dirty="0"/>
              <a:t>Process:</a:t>
            </a:r>
            <a:endParaRPr lang="en-IN" sz="2000" dirty="0"/>
          </a:p>
          <a:p>
            <a:r>
              <a:rPr lang="en-IN" sz="2000" dirty="0"/>
              <a:t>Stores and updates product data in database</a:t>
            </a:r>
          </a:p>
          <a:p>
            <a:r>
              <a:rPr lang="en-IN" sz="2000" dirty="0"/>
              <a:t>Maintains real-time stock information</a:t>
            </a:r>
          </a:p>
          <a:p>
            <a:r>
              <a:rPr lang="en-IN" sz="2000" dirty="0"/>
              <a:t>Ensures data consistency</a:t>
            </a:r>
          </a:p>
          <a:p>
            <a:pPr marL="0" indent="0">
              <a:buNone/>
            </a:pPr>
            <a:r>
              <a:rPr lang="en-IN" sz="2000" b="1" dirty="0"/>
              <a:t>Output:</a:t>
            </a:r>
            <a:endParaRPr lang="en-IN" sz="2000" dirty="0"/>
          </a:p>
          <a:p>
            <a:r>
              <a:rPr lang="en-IN" sz="2000" dirty="0"/>
              <a:t>Updated inventory records</a:t>
            </a:r>
          </a:p>
          <a:p>
            <a:r>
              <a:rPr lang="en-IN" sz="2000" dirty="0"/>
              <a:t>Accurate stock availability displayed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6151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F69A-2B49-DC18-D4E4-7BD784D74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4452" y="1167496"/>
            <a:ext cx="8610600" cy="1293028"/>
          </a:xfrm>
        </p:spPr>
        <p:txBody>
          <a:bodyPr/>
          <a:lstStyle/>
          <a:p>
            <a:pPr algn="ctr"/>
            <a:r>
              <a:rPr lang="en-US" b="1" dirty="0"/>
              <a:t>classes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030725-A93D-F8CE-7018-7E823340B452}"/>
              </a:ext>
            </a:extLst>
          </p:cNvPr>
          <p:cNvSpPr txBox="1"/>
          <p:nvPr/>
        </p:nvSpPr>
        <p:spPr>
          <a:xfrm>
            <a:off x="285135" y="2280294"/>
            <a:ext cx="6636775" cy="211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Main Classes in this Module is  :</a:t>
            </a:r>
            <a:endParaRPr lang="en-IN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Product  class : </a:t>
            </a:r>
            <a:r>
              <a:rPr lang="en-US" dirty="0"/>
              <a:t>Represents product details</a:t>
            </a:r>
            <a:endParaRPr lang="en-IN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Product Controller  : give request to 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Product Service  : business logic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Product Repository : communicate with 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FE9B9A-4B01-CD5E-2565-5D7D22641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184" y="255639"/>
            <a:ext cx="4866969" cy="66023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36875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2C21-6D02-2160-79CF-DE61473B5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271" y="1098669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b="1" dirty="0"/>
              <a:t>Module 3</a:t>
            </a:r>
            <a:br>
              <a:rPr lang="en-IN" sz="4800" b="1" dirty="0"/>
            </a:br>
            <a:r>
              <a:rPr lang="en-IN" sz="4800" b="1" dirty="0"/>
              <a:t>Inventory / Alerts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F8382-E0A2-D239-6350-E6DF45ADE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58" y="2603500"/>
            <a:ext cx="10992465" cy="3416300"/>
          </a:xfrm>
        </p:spPr>
        <p:txBody>
          <a:bodyPr>
            <a:normAutofit/>
          </a:bodyPr>
          <a:lstStyle/>
          <a:p>
            <a:r>
              <a:rPr lang="en-US" sz="2400" dirty="0"/>
              <a:t>Continuously monitors inventory levels in real time</a:t>
            </a:r>
          </a:p>
          <a:p>
            <a:r>
              <a:rPr lang="en-US" sz="2400" dirty="0"/>
              <a:t>Compares current stock against predefined threshold values</a:t>
            </a:r>
          </a:p>
          <a:p>
            <a:r>
              <a:rPr lang="en-US" sz="2400" dirty="0"/>
              <a:t>Automatically triggers alerts when stock reaches critical levels</a:t>
            </a:r>
          </a:p>
          <a:p>
            <a:r>
              <a:rPr lang="en-US" sz="2400" dirty="0"/>
              <a:t>Notifies users to take timely replenishment actions</a:t>
            </a:r>
          </a:p>
          <a:p>
            <a:r>
              <a:rPr lang="en-US" sz="2400" dirty="0"/>
              <a:t>Helps minimize stock-out risks and operational delays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85998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72B0-29FB-F942-CAFA-2A2811EF5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496711"/>
            <a:ext cx="8825659" cy="1749777"/>
          </a:xfrm>
        </p:spPr>
        <p:txBody>
          <a:bodyPr/>
          <a:lstStyle/>
          <a:p>
            <a:pPr algn="ctr"/>
            <a:r>
              <a:rPr lang="en-IN" sz="4400" b="1" dirty="0"/>
              <a:t>Module 3</a:t>
            </a:r>
            <a:br>
              <a:rPr lang="en-IN" sz="4400" b="1" dirty="0"/>
            </a:br>
            <a:r>
              <a:rPr lang="en-IN" sz="4400" b="1" dirty="0"/>
              <a:t>Inventory / Alerts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D757A-023D-9192-8810-D4A45C43B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10" y="2322735"/>
            <a:ext cx="10291979" cy="38424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Input:</a:t>
            </a:r>
            <a:endParaRPr lang="en-US" sz="2000" dirty="0"/>
          </a:p>
          <a:p>
            <a:r>
              <a:rPr lang="en-US" sz="2000" dirty="0"/>
              <a:t>Current stock levels</a:t>
            </a:r>
          </a:p>
          <a:p>
            <a:r>
              <a:rPr lang="en-US" sz="2000" dirty="0"/>
              <a:t>Predefined threshold values</a:t>
            </a:r>
          </a:p>
          <a:p>
            <a:pPr marL="0" indent="0">
              <a:buNone/>
            </a:pPr>
            <a:r>
              <a:rPr lang="en-US" sz="2000" b="1" dirty="0"/>
              <a:t>Process:</a:t>
            </a:r>
            <a:endParaRPr lang="en-US" sz="2000" dirty="0"/>
          </a:p>
          <a:p>
            <a:r>
              <a:rPr lang="en-US" sz="2000" dirty="0"/>
              <a:t>Continuously monitors stock quantities</a:t>
            </a:r>
          </a:p>
          <a:p>
            <a:r>
              <a:rPr lang="en-US" sz="2000" dirty="0"/>
              <a:t>Compares stock with threshold limits</a:t>
            </a:r>
          </a:p>
          <a:p>
            <a:r>
              <a:rPr lang="en-US" sz="2000" dirty="0"/>
              <a:t>Triggers alert conditions</a:t>
            </a:r>
          </a:p>
          <a:p>
            <a:pPr marL="0" indent="0"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r>
              <a:rPr lang="en-US" sz="2000" dirty="0"/>
              <a:t>Low-stock alerts generated</a:t>
            </a:r>
          </a:p>
          <a:p>
            <a:r>
              <a:rPr lang="en-US" sz="2000" dirty="0"/>
              <a:t>Notifications for timely replenishment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45116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8BA4-46AC-53CE-47F9-2677D1FAE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748" y="739247"/>
            <a:ext cx="8610600" cy="1293028"/>
          </a:xfrm>
        </p:spPr>
        <p:txBody>
          <a:bodyPr/>
          <a:lstStyle/>
          <a:p>
            <a:pPr algn="ctr"/>
            <a:r>
              <a:rPr lang="en-US" b="1" dirty="0"/>
              <a:t>classes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11223-24A0-77A0-5C2A-39A5198FC55D}"/>
              </a:ext>
            </a:extLst>
          </p:cNvPr>
          <p:cNvSpPr txBox="1"/>
          <p:nvPr/>
        </p:nvSpPr>
        <p:spPr>
          <a:xfrm>
            <a:off x="358877" y="2032275"/>
            <a:ext cx="114742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fundamental object representing an inventory item, containing the current stock and the threshold that triggers alerts.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concrete record created by the system when a threshold is breached, detailing the issue, the product, and the status.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Controller: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external user requests (e.g., viewing or closing alerts) and routes them to the service layer.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Service: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Executes the core business logic, constantly monitoring products, generating new alerts, and managing alert statuses.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Alert Repository: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Manages all data interactions, specifically saving, retrieving, and updating Product and Alert records in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678836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F35F-A526-02D9-61F9-ABC4C108D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6" y="802285"/>
            <a:ext cx="8610600" cy="1293028"/>
          </a:xfrm>
        </p:spPr>
        <p:txBody>
          <a:bodyPr/>
          <a:lstStyle/>
          <a:p>
            <a:pPr algn="ctr"/>
            <a:r>
              <a:rPr lang="en-US" b="1" dirty="0"/>
              <a:t>Flow 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20EF53-C798-D034-8887-2B3A8F180655}"/>
              </a:ext>
            </a:extLst>
          </p:cNvPr>
          <p:cNvSpPr txBox="1"/>
          <p:nvPr/>
        </p:nvSpPr>
        <p:spPr>
          <a:xfrm>
            <a:off x="7850180" y="2489581"/>
            <a:ext cx="352585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A</a:t>
            </a:r>
            <a:r>
              <a:rPr lang="en-US" sz="1800" dirty="0">
                <a:latin typeface="+mj-lt"/>
              </a:rPr>
              <a:t>lert service----product repository----checks quantity &lt; reorder level</a:t>
            </a:r>
          </a:p>
          <a:p>
            <a:endParaRPr lang="en-US" sz="1800" dirty="0"/>
          </a:p>
          <a:p>
            <a:r>
              <a:rPr lang="en-IN" dirty="0">
                <a:latin typeface="+mj-lt"/>
              </a:rPr>
              <a:t>A</a:t>
            </a:r>
            <a:r>
              <a:rPr lang="en-IN" sz="1800" dirty="0">
                <a:latin typeface="+mj-lt"/>
              </a:rPr>
              <a:t>lert service ----Alert repository-----creates alert</a:t>
            </a:r>
          </a:p>
          <a:p>
            <a:endParaRPr lang="en-IN" dirty="0"/>
          </a:p>
          <a:p>
            <a:r>
              <a:rPr lang="en-IN" sz="1800" dirty="0">
                <a:latin typeface="+mj-lt"/>
              </a:rPr>
              <a:t>Alert controller----shows alert to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E34A7-A430-A089-63D4-59800F6DF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14" y="1410887"/>
            <a:ext cx="6705686" cy="50811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67819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4080C-E8F0-4CF9-50BE-97602B82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86" y="934066"/>
            <a:ext cx="8825659" cy="1484670"/>
          </a:xfrm>
        </p:spPr>
        <p:txBody>
          <a:bodyPr/>
          <a:lstStyle/>
          <a:p>
            <a:pPr algn="ctr"/>
            <a:r>
              <a:rPr lang="en-IN" sz="4400" b="1" dirty="0"/>
              <a:t>Module 4 </a:t>
            </a:r>
            <a:br>
              <a:rPr lang="en-IN" sz="4400" b="1" dirty="0"/>
            </a:br>
            <a:r>
              <a:rPr lang="en-IN" sz="4400" b="1" dirty="0"/>
              <a:t>Reports &amp; Analytics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CD5DB-003E-372E-453E-27BD0BDE7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1" y="2603500"/>
            <a:ext cx="10992465" cy="3416300"/>
          </a:xfrm>
        </p:spPr>
        <p:txBody>
          <a:bodyPr>
            <a:normAutofit/>
          </a:bodyPr>
          <a:lstStyle/>
          <a:p>
            <a:r>
              <a:rPr lang="en-US" sz="2400" dirty="0"/>
              <a:t>Generates detailed inventory reports</a:t>
            </a:r>
          </a:p>
          <a:p>
            <a:r>
              <a:rPr lang="en-US" sz="2400" dirty="0"/>
              <a:t>Provides insights into stock availability and usage patterns</a:t>
            </a:r>
          </a:p>
          <a:p>
            <a:r>
              <a:rPr lang="en-US" sz="2400" dirty="0"/>
              <a:t>Supports analysis of inventory trends over time</a:t>
            </a:r>
          </a:p>
          <a:p>
            <a:r>
              <a:rPr lang="en-US" sz="2400" dirty="0"/>
              <a:t>Helps management in data-driven decision making</a:t>
            </a:r>
          </a:p>
          <a:p>
            <a:r>
              <a:rPr lang="en-US" sz="2400" dirty="0"/>
              <a:t>Improves planning and inventory optimization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0742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51FE5-88E4-6802-D3C2-482782DB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931522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/>
              <a:t>Module 4 </a:t>
            </a:r>
            <a:br>
              <a:rPr lang="en-IN" sz="4400" b="1" dirty="0"/>
            </a:br>
            <a:r>
              <a:rPr lang="en-IN" sz="4400" b="1" dirty="0"/>
              <a:t>Reports &amp; Analytics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82C3-1938-6032-5C80-80867E6B7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50024" cy="3416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Input:</a:t>
            </a:r>
            <a:endParaRPr lang="en-US" sz="2000" dirty="0"/>
          </a:p>
          <a:p>
            <a:r>
              <a:rPr lang="en-US" sz="2000" dirty="0"/>
              <a:t>Inventory and transaction data</a:t>
            </a:r>
          </a:p>
          <a:p>
            <a:pPr marL="0" indent="0">
              <a:buNone/>
            </a:pPr>
            <a:r>
              <a:rPr lang="en-US" sz="2000" b="1" dirty="0"/>
              <a:t>Process:</a:t>
            </a:r>
            <a:endParaRPr lang="en-US" sz="2000" dirty="0"/>
          </a:p>
          <a:p>
            <a:r>
              <a:rPr lang="en-US" sz="2000" dirty="0"/>
              <a:t>Analyzes stock usage and trends</a:t>
            </a:r>
          </a:p>
          <a:p>
            <a:r>
              <a:rPr lang="en-US" sz="2000" dirty="0"/>
              <a:t>Generates reports and summaries</a:t>
            </a:r>
          </a:p>
          <a:p>
            <a:pPr marL="0" indent="0"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r>
              <a:rPr lang="en-US" sz="2000" dirty="0"/>
              <a:t>Inventory reports</a:t>
            </a:r>
          </a:p>
          <a:p>
            <a:r>
              <a:rPr lang="en-US" sz="2000" dirty="0"/>
              <a:t>Analytical insights for decision-making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01627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41157-DC10-699E-6526-9ED9CAA1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903" y="843031"/>
            <a:ext cx="8610600" cy="1293028"/>
          </a:xfrm>
        </p:spPr>
        <p:txBody>
          <a:bodyPr/>
          <a:lstStyle/>
          <a:p>
            <a:pPr algn="ctr"/>
            <a:r>
              <a:rPr lang="en-US" b="1" dirty="0"/>
              <a:t>Flow 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97FEB-E13E-E56D-17BF-CFD8E7C2E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58" y="1927123"/>
            <a:ext cx="7677083" cy="44528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57106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900B2-5BC1-9868-9C4E-ED1116DD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170" y="1012722"/>
            <a:ext cx="8825659" cy="1415845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9AA3F-B246-1DDF-B78F-F79D4FF3B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603500"/>
            <a:ext cx="10992464" cy="3416300"/>
          </a:xfrm>
        </p:spPr>
        <p:txBody>
          <a:bodyPr>
            <a:normAutofit/>
          </a:bodyPr>
          <a:lstStyle/>
          <a:p>
            <a:r>
              <a:rPr lang="en-US" sz="2600" dirty="0" err="1"/>
              <a:t>Inventra</a:t>
            </a:r>
            <a:r>
              <a:rPr lang="en-US" sz="2600" dirty="0"/>
              <a:t> simplifies inventory management and reporting.</a:t>
            </a:r>
          </a:p>
          <a:p>
            <a:r>
              <a:rPr lang="en-US" sz="2600" dirty="0"/>
              <a:t>Reduces human errors and improves decision-making.</a:t>
            </a:r>
          </a:p>
          <a:p>
            <a:r>
              <a:rPr lang="en-US" sz="2600" dirty="0"/>
              <a:t>Scalable solution for businesses of all sizes.</a:t>
            </a:r>
          </a:p>
          <a:p>
            <a:r>
              <a:rPr lang="en-US" sz="2600" dirty="0"/>
              <a:t>Future scope: Integration with AI for predictive stock management.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002762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F21A6-B7FA-9995-0596-B62F0F088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" y="0"/>
            <a:ext cx="6096000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9979FD-A29A-E013-3C5A-331411A2E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13" y="52541"/>
            <a:ext cx="5909187" cy="33239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3D4DE0-71B2-4854-D361-465406A34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174" y="3558968"/>
            <a:ext cx="6420465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1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740991-3FD3-284D-ACCB-147752D72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1" y="3429000"/>
            <a:ext cx="5742039" cy="32686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21CF44-C4D6-9AC5-9DA3-D73851AB8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61" y="38715"/>
            <a:ext cx="5742039" cy="32298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AA4BC5-9947-D695-0767-46B2D1566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483" y="38715"/>
            <a:ext cx="5810866" cy="32686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E7E4D1-E9F8-E2F6-A2A5-0DC362A1DF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483" y="3429000"/>
            <a:ext cx="5810866" cy="326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6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D027C3-DCCB-2727-F40C-6E0F31D30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5757"/>
            <a:ext cx="5594556" cy="3146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63EE36-E32C-CBEE-7434-E66DB8FBB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63E817-37AE-C977-F0A2-0BA614100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5306"/>
            <a:ext cx="5899356" cy="3373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1F49A2-F84E-A9E3-9142-C4AA0956D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84306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39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196E-C8AD-CB1E-5C22-B7541429F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563677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22605447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470</TotalTime>
  <Words>1005</Words>
  <Application>Microsoft Office PowerPoint</Application>
  <PresentationFormat>Widescreen</PresentationFormat>
  <Paragraphs>196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Century Gothic</vt:lpstr>
      <vt:lpstr>Courier New</vt:lpstr>
      <vt:lpstr>Times New Roman</vt:lpstr>
      <vt:lpstr>Wingdings</vt:lpstr>
      <vt:lpstr>Vapor Trail</vt:lpstr>
      <vt:lpstr>Inventra – Intelligent Inventory Management System</vt:lpstr>
      <vt:lpstr>INTRODUCTION </vt:lpstr>
      <vt:lpstr>PROBLEM STATEMENT</vt:lpstr>
      <vt:lpstr>Solution Overview</vt:lpstr>
      <vt:lpstr>System Architecture</vt:lpstr>
      <vt:lpstr>PowerPoint Presentation</vt:lpstr>
      <vt:lpstr>PowerPoint Presentation</vt:lpstr>
      <vt:lpstr>Module 1  Authentication</vt:lpstr>
      <vt:lpstr>Module 1  Authentication</vt:lpstr>
      <vt:lpstr>Classes</vt:lpstr>
      <vt:lpstr>Work flow</vt:lpstr>
      <vt:lpstr>Flow </vt:lpstr>
      <vt:lpstr>Authentication  Database Schema</vt:lpstr>
      <vt:lpstr>Module 2  Product / Inventory Management</vt:lpstr>
      <vt:lpstr>Database </vt:lpstr>
      <vt:lpstr>Module 2  Product / Inventory Management</vt:lpstr>
      <vt:lpstr>classes</vt:lpstr>
      <vt:lpstr>Module 3 Inventory / Alerts </vt:lpstr>
      <vt:lpstr>Module 3 Inventory / Alerts </vt:lpstr>
      <vt:lpstr>classes</vt:lpstr>
      <vt:lpstr>Flow </vt:lpstr>
      <vt:lpstr>Module 4  Reports &amp; Analytics </vt:lpstr>
      <vt:lpstr>Module 4  Reports &amp; Analytics </vt:lpstr>
      <vt:lpstr>Flow </vt:lpstr>
      <vt:lpstr>Conclusion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Keerthana. Chintala</dc:creator>
  <cp:lastModifiedBy>Keerthana. Chintala</cp:lastModifiedBy>
  <cp:revision>26</cp:revision>
  <dcterms:created xsi:type="dcterms:W3CDTF">2025-12-02T17:46:12Z</dcterms:created>
  <dcterms:modified xsi:type="dcterms:W3CDTF">2026-02-07T08:45:17Z</dcterms:modified>
</cp:coreProperties>
</file>